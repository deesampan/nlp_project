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71" r:id="rId23"/>
    <p:sldId id="272" r:id="rId24"/>
    <p:sldId id="261" r:id="rId13"/>
    <p:sldId id="273" r:id="rId25"/>
    <p:sldId id="263" r:id="rId15"/>
    <p:sldId id="274" r:id="rId26"/>
    <p:sldId id="267" r:id="rId19"/>
    <p:sldId id="275" r:id="rId27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3" Type="http://schemas.openxmlformats.org/officeDocument/2006/relationships/slide" Target="slides/slide6.xml"/><Relationship Id="rId15" Type="http://schemas.openxmlformats.org/officeDocument/2006/relationships/slide" Target="slides/slide8.xml"/><Relationship Id="rId19" Type="http://schemas.openxmlformats.org/officeDocument/2006/relationships/slide" Target="slides/slide12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Two-person NLP group project: we train a sentiment model on 133,389 Zomato reviews, then use it to find which dishes customers like at three Bangalore restaurants.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unit of opinion is not the review, it is the dish mentioned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example is the justification for the whole project. Star ratings are review-level; opinions are dish-level.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 reviewers are a self-selected minority who skew toward strong opinions. That is a sampling bias in our corpus.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traps are silent failures. Neither produces an error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ablation measures impact on the downstream task, not just activity. This is the strongest evidence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concrete payoff of replacing ABSA with clause-level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Stating limitations precisely is more persuasive than hiding them. Each is a concrete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returning to the business question: what is actually good on the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train_model.py runs once: it cleans the Kaggle corpus, trains the sentiment model and picks the 3 restaurants. run_pipeline.py can run any time: it reads the 1,400 reviews, finds dishes, scores clauses with the model and writes data.js, which index.html shows. No server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cleanings. The training corpus: 1,317,782 entries become 134,612; removing repeats is 99.2% of everything removed. The website's 1,400 reviews go through four rules, N1 to N4, and 1,321 are left. Every removed website review is listed on its restaurant's page with the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Labels come from each review's own stars: 4 or more positive, 3 to 3.5 neutral, 2.5 or less negative. Our model gets 82.2% right on 26,678 unseen reviews, against 72.7% for VADER and 60.5% for always guessing positive. The three website restaurants never enter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example from our proposal, run through our model and the pipeline's clause rules. The model scores the salad clause +1.00 and the chicken clause −0.93, so the salad gets a 'liked' vote and the chicken breast a 'not liked' vote. A star rating would give both dishes the same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double-click output_project/web/index.html, open Biriyani Nights. Proof: change one Gulab Jamun review in site_reviews.csv from praise to complaint, run start.bat, and the count drops from 8 of 11 to 7 of 11. Undo with git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371600"/>
            <a:ext cx="4206240" cy="4206240"/>
          </a:xfrm>
          <a:prstGeom prst="ellipse">
            <a:avLst/>
          </a:prstGeom>
          <a:solidFill>
            <a:srgbClr val="3B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4846320"/>
            <a:ext cx="2743200" cy="2743200"/>
          </a:xfrm>
          <a:prstGeom prst="ellipse">
            <a:avLst/>
          </a:prstGeom>
          <a:solidFill>
            <a:srgbClr val="3B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BEAE"/>
                </a:solidFill>
                <a:latin typeface="Calibri"/>
              </a:rPr>
              <a:t>NLP GROUP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877824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Restaurant Recommendation</a:t>
            </a:r>
          </a:p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From Reviews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0624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7E8D1"/>
                </a:solidFill>
                <a:latin typeface="Calibri"/>
              </a:rPr>
              <a:t>Finding what is actually good on the menu, from Zomato customer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A6A66"/>
                </a:solidFill>
                <a:latin typeface="Calibri"/>
              </a:rPr>
              <a:t>Deesampan Vongsurit  ·  6510766          Wattanan Jiratriluk  ·  6520214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83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852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500" b="0" i="0">
                <a:solidFill>
                  <a:srgbClr val="2E211E"/>
                </a:solidFill>
                <a:latin typeface="Calibri"/>
              </a:rPr>
              <a:t>•  Restaurants receive hundreds of reviews every month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500" b="0" i="0">
                <a:solidFill>
                  <a:srgbClr val="2E211E"/>
                </a:solidFill>
                <a:latin typeface="Calibri"/>
              </a:rPr>
              <a:t>•  The useful information — which dishes people like — is buried in unstructured text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500" b="0" i="0">
                <a:solidFill>
                  <a:srgbClr val="2E211E"/>
                </a:solidFill>
                <a:latin typeface="Calibri"/>
              </a:rPr>
              <a:t>•  Manual reading is slow, inconsistent, and does not scale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500" b="0" i="0">
                <a:solidFill>
                  <a:srgbClr val="2E211E"/>
                </a:solidFill>
                <a:latin typeface="Calibri"/>
              </a:rPr>
              <a:t>•  Menu decisions end up being made on intuition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343400"/>
            <a:ext cx="58521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544" y="4526280"/>
            <a:ext cx="53766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The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5001768"/>
            <a:ext cx="537667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Weak dishes stay on the menu. Strong dishes go unpromoted.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41732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52360" y="1563624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B85042"/>
                </a:solidFill>
                <a:latin typeface="Cambria"/>
              </a:rPr>
              <a:t>12,494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28600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restaurants in the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41732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21240" y="1563624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B85042"/>
                </a:solidFill>
                <a:latin typeface="Cambria"/>
              </a:rPr>
              <a:t>1.3M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28600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raw review entries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01752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52360" y="3163824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2E211E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88620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median reviews per restaurant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301752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921240" y="3163824"/>
            <a:ext cx="1920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2E211E"/>
                </a:solidFill>
                <a:latin typeface="Cambria"/>
              </a:rPr>
              <a:t>524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886200"/>
            <a:ext cx="1920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reviews at the busiest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83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Why this needs NLP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20095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7B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180015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1">
                <a:solidFill>
                  <a:srgbClr val="2E211E"/>
                </a:solidFill>
                <a:latin typeface="Cambria"/>
              </a:rPr>
              <a:t>“The salad was </a:t>
            </a:r>
            <a:r>
              <a:rPr sz="2400" b="1" i="1">
                <a:solidFill>
                  <a:srgbClr val="2F7D54"/>
                </a:solidFill>
                <a:latin typeface="Cambria"/>
              </a:rPr>
              <a:t>amazing</a:t>
            </a:r>
            <a:r>
              <a:rPr sz="2400" b="0" i="1">
                <a:solidFill>
                  <a:srgbClr val="2E211E"/>
                </a:solidFill>
                <a:latin typeface="Cambria"/>
              </a:rPr>
              <a:t>, but the chicken breast was </a:t>
            </a:r>
            <a:r>
              <a:rPr sz="2400" b="1" i="1">
                <a:solidFill>
                  <a:srgbClr val="B85042"/>
                </a:solidFill>
                <a:latin typeface="Cambria"/>
              </a:rPr>
              <a:t>cold and greasy</a:t>
            </a:r>
            <a:r>
              <a:rPr sz="2400" b="0" i="1">
                <a:solidFill>
                  <a:srgbClr val="2E211E"/>
                </a:solidFill>
                <a:latin typeface="Cambria"/>
              </a:rPr>
              <a:t>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211E"/>
                </a:solidFill>
                <a:latin typeface="Calibri"/>
              </a:rPr>
              <a:t>One review. One star rating. Two opposite opinions.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2044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23544" y="3703320"/>
            <a:ext cx="5010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A star rating cannot express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4178808"/>
            <a:ext cx="5010912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It describes the whole review, so both dishes receive the same sentiment.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Ranking dishes this way silently credits every dish for opinions aimed at something else.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520440"/>
            <a:ext cx="501091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29983" y="3703320"/>
            <a:ext cx="4535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7D54"/>
                </a:solidFill>
                <a:latin typeface="Cambria"/>
              </a:rPr>
              <a:t>So we work at clause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3" y="4178808"/>
            <a:ext cx="4535424" cy="1472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Split the review at sentence boundaries and at but / however / although.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Classify each clause separately and attribute it only to the dishes inside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83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6A66"/>
                </a:solidFill>
                <a:latin typeface="Calibri"/>
              </a:rPr>
              <a:t>Zomato Bangalore Restaurants (Kaggle) — 51,717 rows × 17 columns, 548 MB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9300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544" y="20116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487168"/>
            <a:ext cx="301752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Restaurant level.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Zomato's displayed average, e.g. 4.1/5.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493008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votes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87168"/>
            <a:ext cx="301752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Restaurant level.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How many people rated it at 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1828800"/>
            <a:ext cx="3621024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19871" y="2011680"/>
            <a:ext cx="31455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7D54"/>
                </a:solidFill>
                <a:latin typeface="Cambria"/>
              </a:rPr>
              <a:t>reviews_list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2487168"/>
            <a:ext cx="3145536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The only field with text.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Each entry carries its own star rating.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41648"/>
            <a:ext cx="1082009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211E"/>
                </a:solidFill>
                <a:latin typeface="Cambria"/>
              </a:rPr>
              <a:t>These are not interchangeable — we verified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80560"/>
            <a:ext cx="108200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350" b="0" i="0">
                <a:solidFill>
                  <a:srgbClr val="2E211E"/>
                </a:solidFill>
                <a:latin typeface="Calibri"/>
              </a:rPr>
              <a:t>•  rate differs from the mean of its own reviews by 0.55 stars on average; only 6.7% agree within 0.05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350" b="0" i="0">
                <a:solidFill>
                  <a:srgbClr val="2E211E"/>
                </a:solidFill>
                <a:latin typeface="Calibri"/>
              </a:rPr>
              <a:t>•  votes exceeds the review count in 87.9% of rows, median ratio 11× — text reviews are only ~6% of all ratings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350" b="0" i="0">
                <a:solidFill>
                  <a:srgbClr val="2E211E"/>
                </a:solidFill>
                <a:latin typeface="Calibri"/>
              </a:rPr>
              <a:t>•  Never train on rate: it is an average, so a 1-star review at a 4.5-star restaurant would be labelled positive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83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Two traps in deduplicating this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544" y="1554480"/>
            <a:ext cx="5010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Trap 1 — the obvious key fails silently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029967"/>
            <a:ext cx="5010912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All 51,717 url values are unique, so deduplicating on url removes nothing and reports success.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Zomato appends a ?context= query string encoding the category listing.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5010912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29983" y="1554480"/>
            <a:ext cx="4535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Trap 2 — the obvious fix loses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3" y="2029967"/>
            <a:ext cx="4535424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Deduplicating on (name, address) and keeping one row per restaurant drops 32,803 real reviews.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Category listings hold partially different review sets, not copies.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40480"/>
            <a:ext cx="10820095" cy="2011680"/>
          </a:xfrm>
          <a:prstGeom prst="roundRect">
            <a:avLst>
              <a:gd name="adj" fmla="val 6000"/>
            </a:avLst>
          </a:prstGeom>
          <a:solidFill>
            <a:srgbClr val="EDF3EF"/>
          </a:solidFill>
          <a:ln w="25400">
            <a:solidFill>
              <a:srgbClr val="2F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4069080"/>
            <a:ext cx="10234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D4A33"/>
                </a:solidFill>
                <a:latin typeface="Cambria"/>
              </a:rPr>
              <a:t>The correct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526280"/>
            <a:ext cx="102348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 i="0">
                <a:solidFill>
                  <a:srgbClr val="1D4A33"/>
                </a:solidFill>
                <a:latin typeface="Calibri"/>
              </a:rPr>
              <a:t>Explode every row to review level first, then deduplicate on (restaurant, review_text).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50" b="0" i="0">
                <a:solidFill>
                  <a:srgbClr val="1D4A33"/>
                </a:solidFill>
                <a:latin typeface="Calibri"/>
              </a:rPr>
              <a:t>Restaurant-level deduplication must never happen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83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The trap in standard cleaning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E211E"/>
                </a:solidFill>
                <a:latin typeface="Calibri"/>
              </a:rPr>
              <a:t>Stopword lists contain not, no, never and nor. Strip them and “the biryani was not good” becomes “biryani good”.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544" y="2057400"/>
            <a:ext cx="50109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We measured the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532887"/>
            <a:ext cx="501091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Keeping not, no, never …   82.2% accuracy   77.4% F1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Default stopword list   80.0% accuracy   74.9% F1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Cost of stripping them:  −2.1 points accuracy, −2.5 points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501091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29983" y="2057400"/>
            <a:ext cx="4535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7D54"/>
                </a:solidFill>
                <a:latin typeface="Cambria"/>
              </a:rPr>
              <a:t>The model proves the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3" y="2532887"/>
            <a:ext cx="4535424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not  +8.18   →  negative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not good  +6.15   →  negative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not bad  +4.12   →  positive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not disappointed  +6.17   →  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60520"/>
            <a:ext cx="10820095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78408" y="4370832"/>
            <a:ext cx="102348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211E"/>
                </a:solidFill>
                <a:latin typeface="Cambria"/>
              </a:rPr>
              <a:t>Opposite sentiments, all carried by the same word.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828032"/>
            <a:ext cx="1023487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2E211E"/>
                </a:solidFill>
                <a:latin typeface="Calibri"/>
              </a:rPr>
              <a:t>These weights were learned from 90,704 star-rated reviews — we never told the model that negation matters. Delete not from the corpus and these phrases collapse into the same words.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83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What clause-level attribution 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517904"/>
            <a:ext cx="312724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B85042"/>
                </a:solidFill>
                <a:latin typeface="Cambria"/>
              </a:rPr>
              <a:t>32.9%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1272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of dish opinions differ from the review's own star rating (246 of 747)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71600"/>
            <a:ext cx="34930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98848" y="1517904"/>
            <a:ext cx="312724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B85042"/>
                </a:solidFill>
                <a:latin typeface="Cambria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240280"/>
            <a:ext cx="31272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reviews like one dish and dislike another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371600"/>
            <a:ext cx="362102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5007" y="1517904"/>
            <a:ext cx="325526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B85042"/>
                </a:solidFill>
                <a:latin typeface="Cambria"/>
              </a:rPr>
              <a:t>747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7" y="2240280"/>
            <a:ext cx="32552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dish opinions, from the 416 reviews that name a dish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108200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96696" y="3291840"/>
            <a:ext cx="1019830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211E"/>
                </a:solidFill>
                <a:latin typeface="Cambria"/>
              </a:rPr>
              <a:t>A rough check with star ratings: obvious errors, VADER → our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794760"/>
            <a:ext cx="5486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 strike="sngStrike">
                <a:solidFill>
                  <a:srgbClr val="7A6A66"/>
                </a:solidFill>
                <a:latin typeface="Cambria"/>
              </a:rPr>
              <a:t>44</a:t>
            </a:r>
            <a:r>
              <a:rPr sz="2200" b="0" i="0">
                <a:solidFill>
                  <a:srgbClr val="7A6A66"/>
                </a:solidFill>
                <a:latin typeface="Calibri"/>
              </a:rPr>
              <a:t>     →     </a:t>
            </a:r>
            <a:r>
              <a:rPr sz="3300" b="1" i="0">
                <a:solidFill>
                  <a:srgbClr val="B85042"/>
                </a:solidFill>
                <a:latin typeface="Cambria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663440"/>
            <a:ext cx="1019830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2E211E"/>
                </a:solidFill>
                <a:latin typeface="Calibri"/>
              </a:rPr>
              <a:t>A dish marked liked inside a 1-star review, or not liked inside a 5-star review, is very likely wrong. Out of 747 dish opinions, VADER made 44 such errors; our model with the final rules makes 21. This shows the rules remove obvious errors — it does not measure clause accuracy.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830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486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450" b="0" i="0">
                <a:solidFill>
                  <a:srgbClr val="2E211E"/>
                </a:solidFill>
                <a:latin typeface="Calibri"/>
              </a:rPr>
              <a:t>•  Neutral-class F1 of 0.582 — the model is weak on “in between” reviews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450" b="0" i="0">
                <a:solidFill>
                  <a:srgbClr val="2E211E"/>
                </a:solidFill>
                <a:latin typeface="Calibri"/>
              </a:rPr>
              <a:t>•  Sampling bias — text reviewers are ~6% of raters and skew toward strong opinions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450" b="0" i="0">
                <a:solidFill>
                  <a:srgbClr val="2E211E"/>
                </a:solidFill>
                <a:latin typeface="Calibri"/>
              </a:rPr>
              <a:t>•  905 of 1,321 cleaned reviews mention no dish; our sample restaurants are delivery-led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450" b="0" i="0">
                <a:solidFill>
                  <a:srgbClr val="2E211E"/>
                </a:solidFill>
                <a:latin typeface="Calibri"/>
              </a:rPr>
              <a:t>•  No manual audit of removed reviews, so filter precision is unmeasured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463040"/>
            <a:ext cx="501091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450" b="0" i="0">
                <a:solidFill>
                  <a:srgbClr val="2E211E"/>
                </a:solidFill>
                <a:latin typeface="Calibri"/>
              </a:rPr>
              <a:t>•  Clause accuracy is not measured directly — we have no clause-level labels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450" b="0" i="0">
                <a:solidFill>
                  <a:srgbClr val="2E211E"/>
                </a:solidFill>
                <a:latin typeface="Calibri"/>
              </a:rPr>
              <a:t>•  The 15-character (corpus) and 2-word (website) thresholds are unvalidated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450" b="0" i="0">
                <a:solidFill>
                  <a:srgbClr val="2E211E"/>
                </a:solidFill>
                <a:latin typeface="Calibri"/>
              </a:rPr>
              <a:t>•  No timestamps in the dataset, so no trend over time is possible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1450" b="0" i="0">
                <a:solidFill>
                  <a:srgbClr val="2E211E"/>
                </a:solidFill>
                <a:latin typeface="Calibri"/>
              </a:rPr>
              <a:t>•  Dish finding has weak supervision only — no precision or recall reported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4663440"/>
            <a:ext cx="3840480" cy="3840480"/>
          </a:xfrm>
          <a:prstGeom prst="ellipse">
            <a:avLst/>
          </a:prstGeom>
          <a:solidFill>
            <a:srgbClr val="3B2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BEAE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Reviews become menu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1874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85042"/>
                </a:solidFill>
                <a:latin typeface="Cambria"/>
              </a:rPr>
              <a:t>89.1%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2514600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7E8D1"/>
                </a:solidFill>
                <a:latin typeface="Calibri"/>
              </a:rPr>
              <a:t>of the corpus was duplicated — removing repeats was 99.2% of all rows removed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1874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85042"/>
                </a:solidFill>
                <a:latin typeface="Cambria"/>
              </a:rPr>
              <a:t>82.2%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566160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7E8D1"/>
                </a:solidFill>
                <a:latin typeface="Calibri"/>
              </a:rPr>
              <a:t>accuracy of our trained model, against 72.7% for the ready-made VADER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17720"/>
            <a:ext cx="18745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85042"/>
                </a:solidFill>
                <a:latin typeface="Cambria"/>
              </a:rPr>
              <a:t>32.9%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4617720"/>
            <a:ext cx="8503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7E8D1"/>
                </a:solidFill>
                <a:latin typeface="Calibri"/>
              </a:rPr>
              <a:t>of dish opinions differ from the review's own star 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607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A7BEAE"/>
                </a:solidFill>
                <a:latin typeface="Calibri"/>
              </a:rPr>
              <a:t>Instead of reading every review, an owner can see which dishes to promote, which to fix, and which to cut — with the evidence one click away.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5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The big picture: two scripts, one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7A6A66"/>
                </a:solidFill>
                <a:latin typeface="Calibri"/>
              </a:rPr>
              <a:t>Everything the project does, from the Kaggle file to the page. Dark boxes are our code; white boxes are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1481328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8952" y="2240280"/>
            <a:ext cx="1335024" cy="1152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2E211E"/>
                </a:solidFill>
                <a:latin typeface="Calibri"/>
              </a:rPr>
              <a:t>zomato.csv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7A6A66"/>
                </a:solidFill>
                <a:latin typeface="Calibri"/>
              </a:rPr>
              <a:t>Kaggle file, 548 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3004" y="2240280"/>
            <a:ext cx="1481328" cy="1152144"/>
          </a:xfrm>
          <a:prstGeom prst="roundRect">
            <a:avLst>
              <a:gd name="adj" fmla="val 6000"/>
            </a:avLst>
          </a:prstGeom>
          <a:solidFill>
            <a:srgbClr val="2E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26156" y="2240280"/>
            <a:ext cx="1335024" cy="1152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train_model.py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E7E8D1"/>
                </a:solidFill>
                <a:latin typeface="Calibri"/>
              </a:rPr>
              <a:t>cleans the corpus, trains the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0209" y="1792224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93361" y="1792224"/>
            <a:ext cx="1335024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2E211E"/>
                </a:solidFill>
                <a:latin typeface="Calibri"/>
              </a:rPr>
              <a:t>the model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7A6A66"/>
                </a:solidFill>
                <a:latin typeface="Calibri"/>
              </a:rPr>
              <a:t>sentiment_tfidf_lr.pkl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0209" y="2926080"/>
            <a:ext cx="14813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93361" y="2926080"/>
            <a:ext cx="1335024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2E211E"/>
                </a:solidFill>
                <a:latin typeface="Calibri"/>
              </a:rPr>
              <a:t>site_reviews.csv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7A6A66"/>
                </a:solidFill>
                <a:latin typeface="Calibri"/>
              </a:rPr>
              <a:t>1,400 reviews of 3 restaurants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7414" y="2240280"/>
            <a:ext cx="1481328" cy="1152144"/>
          </a:xfrm>
          <a:prstGeom prst="roundRect">
            <a:avLst>
              <a:gd name="adj" fmla="val 6000"/>
            </a:avLst>
          </a:prstGeom>
          <a:solidFill>
            <a:srgbClr val="2E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60566" y="2240280"/>
            <a:ext cx="1335024" cy="1152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run_pipeline.py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E7E8D1"/>
                </a:solidFill>
                <a:latin typeface="Calibri"/>
              </a:rPr>
              <a:t>the 6 NLP stages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4619" y="2240280"/>
            <a:ext cx="1481328" cy="11521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7771" y="2240280"/>
            <a:ext cx="1335024" cy="1152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2E211E"/>
                </a:solidFill>
                <a:latin typeface="Calibri"/>
              </a:rPr>
              <a:t>web/data.js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7A6A66"/>
                </a:solidFill>
                <a:latin typeface="Calibri"/>
              </a:rPr>
              <a:t>the numbers the page shows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21824" y="2240280"/>
            <a:ext cx="1481328" cy="1152144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94976" y="2240280"/>
            <a:ext cx="1335024" cy="11521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index.html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0">
                <a:solidFill>
                  <a:srgbClr val="F6DDD8"/>
                </a:solidFill>
                <a:latin typeface="Calibri"/>
              </a:rPr>
              <a:t>the website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21992" y="2816352"/>
            <a:ext cx="276148" cy="0"/>
          </a:xfrm>
          <a:prstGeom prst="line">
            <a:avLst/>
          </a:prstGeom>
          <a:ln w="22225">
            <a:solidFill>
              <a:srgbClr val="7A6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089196" y="2249424"/>
            <a:ext cx="276149" cy="521208"/>
          </a:xfrm>
          <a:prstGeom prst="line">
            <a:avLst/>
          </a:prstGeom>
          <a:ln w="22225">
            <a:solidFill>
              <a:srgbClr val="7A6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89196" y="2862072"/>
            <a:ext cx="276149" cy="521208"/>
          </a:xfrm>
          <a:prstGeom prst="line">
            <a:avLst/>
          </a:prstGeom>
          <a:ln w="22225">
            <a:solidFill>
              <a:srgbClr val="7A6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56401" y="2249424"/>
            <a:ext cx="276149" cy="521208"/>
          </a:xfrm>
          <a:prstGeom prst="line">
            <a:avLst/>
          </a:prstGeom>
          <a:ln w="22225">
            <a:solidFill>
              <a:srgbClr val="7A6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956401" y="2862072"/>
            <a:ext cx="276149" cy="521208"/>
          </a:xfrm>
          <a:prstGeom prst="line">
            <a:avLst/>
          </a:prstGeom>
          <a:ln w="22225">
            <a:solidFill>
              <a:srgbClr val="7A6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3606" y="2816352"/>
            <a:ext cx="276149" cy="0"/>
          </a:xfrm>
          <a:prstGeom prst="line">
            <a:avLst/>
          </a:prstGeom>
          <a:ln w="22225">
            <a:solidFill>
              <a:srgbClr val="7A6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90811" y="2816352"/>
            <a:ext cx="276149" cy="0"/>
          </a:xfrm>
          <a:prstGeom prst="line">
            <a:avLst/>
          </a:prstGeom>
          <a:ln w="22225">
            <a:solidFill>
              <a:srgbClr val="7A6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53004" y="348386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6A66"/>
                </a:solidFill>
                <a:latin typeface="Calibri"/>
              </a:rPr>
              <a:t>src/ · run once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7414" y="348386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6A66"/>
                </a:solidFill>
                <a:latin typeface="Calibri"/>
              </a:rPr>
              <a:t>src/ · run any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16052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0120" y="4343400"/>
            <a:ext cx="47091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Training side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782312"/>
            <a:ext cx="20802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7A6A66"/>
                </a:solidFill>
                <a:latin typeface="Cambria"/>
              </a:rPr>
              <a:t>1.3M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0380" y="478231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0" i="0">
                <a:solidFill>
                  <a:srgbClr val="7A6A66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9020" y="4782312"/>
            <a:ext cx="20802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B85042"/>
                </a:solidFill>
                <a:latin typeface="Cambria"/>
              </a:rPr>
              <a:t>134,612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458968"/>
            <a:ext cx="20802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6A66"/>
                </a:solidFill>
                <a:latin typeface="Calibri"/>
              </a:rPr>
              <a:t>raw review entries (1,317,782)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9020" y="5458968"/>
            <a:ext cx="20802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6A66"/>
                </a:solidFill>
                <a:latin typeface="Calibri"/>
              </a:rPr>
              <a:t>clean, star-labelled reviews to learn from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5352" y="416052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19672" y="4343400"/>
            <a:ext cx="470916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Website side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4782312"/>
            <a:ext cx="20802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7A6A66"/>
                </a:solidFill>
                <a:latin typeface="Cambria"/>
              </a:rPr>
              <a:t>1,400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9932" y="4782312"/>
            <a:ext cx="5486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0" i="0">
                <a:solidFill>
                  <a:srgbClr val="7A6A66"/>
                </a:solidFill>
                <a:latin typeface="Calibri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8572" y="4782312"/>
            <a:ext cx="20802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B85042"/>
                </a:solidFill>
                <a:latin typeface="Cambria"/>
              </a:rPr>
              <a:t>122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5458968"/>
            <a:ext cx="20802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6A66"/>
                </a:solidFill>
                <a:latin typeface="Calibri"/>
              </a:rPr>
              <a:t>reviews of 3 Bangalore restaurants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8572" y="5458968"/>
            <a:ext cx="20802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7A6A66"/>
                </a:solidFill>
                <a:latin typeface="Calibri"/>
              </a:rPr>
              <a:t>dishes found; 34 have enough opinions to rank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5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Cleaning the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5134356" cy="1188720"/>
          </a:xfrm>
          <a:prstGeom prst="roundRect">
            <a:avLst>
              <a:gd name="adj" fmla="val 6000"/>
            </a:avLst>
          </a:prstGeom>
          <a:solidFill>
            <a:srgbClr val="F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544" y="1389888"/>
            <a:ext cx="46588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85042"/>
                </a:solidFill>
                <a:latin typeface="Calibri"/>
              </a:rPr>
              <a:t>BEFORE — a real review, as stored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700784"/>
            <a:ext cx="465886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A2F24"/>
                </a:solidFill>
                <a:latin typeface="Calibri"/>
              </a:rPr>
              <a:t>RATED</a:t>
            </a:r>
            <a:r>
              <a:rPr sz="1500" b="0" i="0">
                <a:solidFill>
                  <a:srgbClr val="2E211E"/>
                </a:solidFill>
                <a:latin typeface="Calibri"/>
              </a:rPr>
              <a:t>⏎   Amazing chicken biryani</a:t>
            </a:r>
            <a:r>
              <a:rPr sz="1500" b="1" i="0">
                <a:solidFill>
                  <a:srgbClr val="8A2F24"/>
                </a:solidFill>
                <a:latin typeface="Calibri"/>
              </a:rPr>
              <a:t>....</a:t>
            </a:r>
            <a:r>
              <a:rPr sz="1500" b="0" i="0">
                <a:solidFill>
                  <a:srgbClr val="2E211E"/>
                </a:solidFill>
                <a:latin typeface="Calibri"/>
              </a:rPr>
              <a:t> lunch sorted</a:t>
            </a:r>
            <a:r>
              <a:rPr sz="1500" b="1" i="0">
                <a:solidFill>
                  <a:srgbClr val="8A2F24"/>
                </a:solidFill>
                <a:latin typeface="Calibri"/>
              </a:rPr>
              <a:t>...</a:t>
            </a:r>
            <a:r>
              <a:rPr sz="1500" b="1" i="0">
                <a:solidFill>
                  <a:srgbClr val="8A2F24"/>
                </a:solidFill>
                <a:latin typeface="Calibri"/>
              </a:rPr>
              <a:t>ÃƒƒÃ‚ƒÃƒ‚Ã‚¢ÃƒƒÃ‚ƒ…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29884" y="1856231"/>
            <a:ext cx="329184" cy="0"/>
          </a:xfrm>
          <a:prstGeom prst="line">
            <a:avLst/>
          </a:prstGeom>
          <a:ln w="25400">
            <a:solidFill>
              <a:srgbClr val="7A6A6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68796" y="1261872"/>
            <a:ext cx="5134356" cy="1188720"/>
          </a:xfrm>
          <a:prstGeom prst="roundRect">
            <a:avLst>
              <a:gd name="adj" fmla="val 6000"/>
            </a:avLst>
          </a:prstGeom>
          <a:solidFill>
            <a:srgbClr val="E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06540" y="1389888"/>
            <a:ext cx="46588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F7D54"/>
                </a:solidFill>
                <a:latin typeface="Calibri"/>
              </a:rPr>
              <a:t>AFTER — what the model 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6540" y="1700784"/>
            <a:ext cx="465886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E211E"/>
                </a:solidFill>
                <a:latin typeface="Calibri"/>
              </a:rPr>
              <a:t>Amazing chicken biryani. lunch sorted.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A6A66"/>
                </a:solidFill>
                <a:latin typeface="Calibri"/>
              </a:rPr>
              <a:t>BOX8 – Desi Meals, 5★. Fixed: Zomato's RATED prefix, repeated dots, broken emoji bytes.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61722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3200400"/>
            <a:ext cx="56967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Training corpus  ·  train_model.py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3730752"/>
            <a:ext cx="569671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11E"/>
                </a:solidFill>
                <a:latin typeface="Calibri"/>
              </a:rPr>
              <a:t>1,317,782 review entries, split out of 51,717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" y="4005072"/>
            <a:ext cx="5696712" cy="164592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3544" y="4279392"/>
            <a:ext cx="569671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11E"/>
                </a:solidFill>
                <a:latin typeface="Calibri"/>
              </a:rPr>
              <a:t>143,789 after removing repeats  (−1,173,993 = 99.2% of all removals)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" y="4553712"/>
            <a:ext cx="621593" cy="16459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3544" y="4828032"/>
            <a:ext cx="569671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E211E"/>
                </a:solidFill>
                <a:latin typeface="Calibri"/>
              </a:rPr>
              <a:t>134,612 after boilerplate, length, language and label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" y="5102352"/>
            <a:ext cx="581921" cy="164592"/>
          </a:xfrm>
          <a:prstGeom prst="rect">
            <a:avLst/>
          </a:prstGeom>
          <a:solidFill>
            <a:srgbClr val="2F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3544" y="5440679"/>
            <a:ext cx="56967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A6A66"/>
                </a:solidFill>
                <a:latin typeface="Calibri"/>
              </a:rPr>
              <a:t>Tools: </a:t>
            </a:r>
            <a:r>
              <a:rPr sz="1200" b="0" i="0">
                <a:solidFill>
                  <a:srgbClr val="7A6A66"/>
                </a:solidFill>
                <a:latin typeface="Calibri"/>
              </a:rPr>
              <a:t>hashlib (repeats) · ftfy + re (repair text) · langdetect (English only)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9752" y="3017520"/>
            <a:ext cx="43434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97496" y="320040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Website reviews  ·  run_pipeline.py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056" y="3675887"/>
            <a:ext cx="4050791" cy="2834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97496" y="3675887"/>
            <a:ext cx="306324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Raw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5872" y="3675887"/>
            <a:ext cx="859536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1,400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496" y="3959351"/>
            <a:ext cx="306324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N1  Empty after cleaning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3959351"/>
            <a:ext cx="859536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−6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6056" y="4242816"/>
            <a:ext cx="4050791" cy="2834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97496" y="4242816"/>
            <a:ext cx="306324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N2  Duplicate (same text, same restaurant)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5872" y="4242816"/>
            <a:ext cx="859536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−3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7496" y="4526279"/>
            <a:ext cx="306324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N3  Fewer than 2 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5872" y="4526279"/>
            <a:ext cx="859536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−70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6056" y="4809744"/>
            <a:ext cx="4050791" cy="28346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397496" y="4809744"/>
            <a:ext cx="306324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N4  Not English (under 70% Latin letters)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05872" y="4809744"/>
            <a:ext cx="859536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2E211E"/>
                </a:solidFill>
                <a:latin typeface="Calibri"/>
              </a:rPr>
              <a:t>−0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7496" y="5093207"/>
            <a:ext cx="306324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211E"/>
                </a:solidFill>
                <a:latin typeface="Calibri"/>
              </a:rPr>
              <a:t>Left for the website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5093207"/>
            <a:ext cx="859536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1,321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97496" y="5440679"/>
            <a:ext cx="38679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A6A66"/>
                </a:solidFill>
                <a:latin typeface="Calibri"/>
              </a:rPr>
              <a:t>Tools: </a:t>
            </a:r>
            <a:r>
              <a:rPr sz="1200" b="0" i="0">
                <a:solidFill>
                  <a:srgbClr val="7A6A66"/>
                </a:solidFill>
                <a:latin typeface="Calibri"/>
              </a:rPr>
              <a:t>re, unicodedata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5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Training the sentiment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7A6A66"/>
                </a:solidFill>
                <a:latin typeface="Calibri"/>
              </a:rPr>
              <a:t>TF-IDF turns a review into word weights; logistic regression learns which words mean positive, neutral or negative.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4343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544" y="1965960"/>
            <a:ext cx="38679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Stars become labels, for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496312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E211E"/>
                </a:solidFill>
                <a:latin typeface="Calibri"/>
              </a:rPr>
              <a:t>★ 4.0 –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496312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A6A66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51460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F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60320" y="2514600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positive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96312"/>
            <a:ext cx="99669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7A6A66"/>
                </a:solidFill>
                <a:latin typeface="Calibri"/>
              </a:rPr>
              <a:t>81,213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926080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E211E"/>
                </a:solidFill>
                <a:latin typeface="Calibri"/>
              </a:rPr>
              <a:t>★ 3.0 – 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92608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A6A66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9443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7A6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560320" y="2944368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neutral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926080"/>
            <a:ext cx="99669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7A6A66"/>
                </a:solidFill>
                <a:latin typeface="Calibri"/>
              </a:rPr>
              <a:t>25,035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335584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E211E"/>
                </a:solidFill>
                <a:latin typeface="Calibri"/>
              </a:rPr>
              <a:t>★ 2.5 or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355848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A6A66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37413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560320" y="33741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negative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355848"/>
            <a:ext cx="996695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7A6A66"/>
                </a:solidFill>
                <a:latin typeface="Calibri"/>
              </a:rPr>
              <a:t>28,364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3794760"/>
            <a:ext cx="38679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A6A66"/>
                </a:solidFill>
                <a:latin typeface="Calibri"/>
              </a:rPr>
              <a:t>Every review carries its own star rating — no hand labelling.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0952" y="1783080"/>
            <a:ext cx="61722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568696" y="1965960"/>
            <a:ext cx="569671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Accuracy on 26,678 test reviews it never saw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77256" y="2496312"/>
            <a:ext cx="5879592" cy="438912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568696" y="2496312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Always say “positive”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31936" y="2633472"/>
            <a:ext cx="1067699" cy="164592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488168" y="2496312"/>
            <a:ext cx="7772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2E211E"/>
                </a:solidFill>
                <a:latin typeface="Cambria"/>
              </a:rPr>
              <a:t>60.5%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8696" y="2971800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E211E"/>
                </a:solidFill>
                <a:latin typeface="Calibri"/>
              </a:rPr>
              <a:t>VADER (ready-made word list)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31936" y="3108960"/>
            <a:ext cx="1283003" cy="164592"/>
          </a:xfrm>
          <a:prstGeom prst="rect">
            <a:avLst/>
          </a:prstGeom>
          <a:solidFill>
            <a:srgbClr val="A7B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488168" y="2971800"/>
            <a:ext cx="7772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0" i="0">
                <a:solidFill>
                  <a:srgbClr val="2E211E"/>
                </a:solidFill>
                <a:latin typeface="Cambria"/>
              </a:rPr>
              <a:t>72.7%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77256" y="3447288"/>
            <a:ext cx="5879592" cy="438912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68696" y="3447288"/>
            <a:ext cx="297180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E211E"/>
                </a:solidFill>
                <a:latin typeface="Calibri"/>
              </a:rPr>
              <a:t>Our model: TF-IDF + logistic regression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31936" y="3584448"/>
            <a:ext cx="1450659" cy="164592"/>
          </a:xfrm>
          <a:prstGeom prst="rect">
            <a:avLst/>
          </a:prstGeom>
          <a:solidFill>
            <a:srgbClr val="2F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488168" y="3447288"/>
            <a:ext cx="7772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2F7D54"/>
                </a:solidFill>
                <a:latin typeface="Cambria"/>
              </a:rPr>
              <a:t>82.2%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43484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23544" y="4617720"/>
            <a:ext cx="478231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7D54"/>
                </a:solidFill>
                <a:latin typeface="Cambria"/>
              </a:rPr>
              <a:t>Keeping “not” is worth +2.1 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" y="5093208"/>
            <a:ext cx="4782312" cy="6217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2E211E"/>
                </a:solidFill>
                <a:latin typeface="Calibri"/>
              </a:rPr>
              <a:t>82.2% with not / no / never kept, 80.0% with the default stopword list. The next slide shows why.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443484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83096" y="4617720"/>
            <a:ext cx="478231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The website's restaurants are held 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83096" y="5093208"/>
            <a:ext cx="4782312" cy="6217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0" i="0">
                <a:solidFill>
                  <a:srgbClr val="2E211E"/>
                </a:solidFill>
                <a:latin typeface="Calibri"/>
              </a:rPr>
              <a:t>Their 1,223 reviews are removed before training. The other 133,389: 90,704 to learn, 16,007 to check ideas, 26,678 to test.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5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From one review to dish opinions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353312"/>
            <a:ext cx="329184" cy="32918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1673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11E"/>
                </a:solidFill>
                <a:latin typeface="Cambria"/>
              </a:rPr>
              <a:t>Find the dishes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459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the restaurant's menu + RapidFuzz for typos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340864"/>
            <a:ext cx="329184" cy="32918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34086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04288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11E"/>
                </a:solidFill>
                <a:latin typeface="Cambria"/>
              </a:rPr>
              <a:t>Split into clauses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33472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at . ! ? ; and before but, however …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28416"/>
            <a:ext cx="329184" cy="32918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332841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9184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11E"/>
                </a:solidFill>
                <a:latin typeface="Cambria"/>
              </a:rPr>
              <a:t>Hide the dish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21024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and a leading “but”, so only the opinion is read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315968"/>
            <a:ext cx="329184" cy="32918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431596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79392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11E"/>
                </a:solidFill>
                <a:latin typeface="Cambria"/>
              </a:rPr>
              <a:t>Score each clause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08576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our model: P(positive) − P(negative), from −1 to +1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303520"/>
            <a:ext cx="329184" cy="32918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" y="53035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266944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211E"/>
                </a:solidFill>
                <a:latin typeface="Cambria"/>
              </a:rPr>
              <a:t>Take a side at ±0.4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9612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7A6A66"/>
                </a:solidFill>
                <a:latin typeface="Calibri"/>
              </a:rPr>
              <a:t>+0.4 or more liked, −0.4 or less not liked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1243584"/>
            <a:ext cx="779983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931920" y="1243584"/>
            <a:ext cx="7342632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2E211E"/>
                </a:solidFill>
                <a:latin typeface="Cambria"/>
              </a:rPr>
              <a:t>“The </a:t>
            </a:r>
            <a:r>
              <a:rPr sz="1700" b="1" i="1" u="sng">
                <a:solidFill>
                  <a:srgbClr val="2E211E"/>
                </a:solidFill>
                <a:latin typeface="Cambria"/>
              </a:rPr>
              <a:t>salad</a:t>
            </a:r>
            <a:r>
              <a:rPr sz="1700" b="0" i="1">
                <a:solidFill>
                  <a:srgbClr val="2E211E"/>
                </a:solidFill>
                <a:latin typeface="Cambria"/>
              </a:rPr>
              <a:t> was amazing, but the </a:t>
            </a:r>
            <a:r>
              <a:rPr sz="1700" b="1" i="1" u="sng">
                <a:solidFill>
                  <a:srgbClr val="2E211E"/>
                </a:solidFill>
                <a:latin typeface="Cambria"/>
              </a:rPr>
              <a:t>chicken breast</a:t>
            </a:r>
            <a:r>
              <a:rPr sz="1700" b="0" i="1">
                <a:solidFill>
                  <a:srgbClr val="2E211E"/>
                </a:solidFill>
                <a:latin typeface="Cambria"/>
              </a:rPr>
              <a:t> was cold and greasy.”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2231136"/>
            <a:ext cx="38084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904487" y="2231136"/>
            <a:ext cx="34061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E211E"/>
                </a:solidFill>
                <a:latin typeface="Calibri"/>
              </a:rPr>
              <a:t>The salad was amazing,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94675" y="2231136"/>
            <a:ext cx="38084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95844" y="2231136"/>
            <a:ext cx="34061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E211E"/>
                </a:solidFill>
                <a:latin typeface="Calibri"/>
              </a:rPr>
              <a:t>but the chicken breast was cold and greasy.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3218688"/>
            <a:ext cx="38084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904487" y="3218688"/>
            <a:ext cx="34061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E211E"/>
                </a:solidFill>
                <a:latin typeface="Calibri"/>
              </a:rPr>
              <a:t>The ____ was amazing,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94675" y="3218688"/>
            <a:ext cx="38084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95844" y="3218688"/>
            <a:ext cx="34061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E211E"/>
                </a:solidFill>
                <a:latin typeface="Calibri"/>
              </a:rPr>
              <a:t>the ____ was cold and greasy.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4206240"/>
            <a:ext cx="38084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904487" y="4206240"/>
            <a:ext cx="10515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F7D54"/>
                </a:solidFill>
                <a:latin typeface="Cambria"/>
              </a:rPr>
              <a:t>+1.00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55690" y="4453128"/>
            <a:ext cx="846734" cy="237744"/>
          </a:xfrm>
          <a:prstGeom prst="rect">
            <a:avLst/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8" name="Connector 37"/>
          <p:cNvCxnSpPr/>
          <p:nvPr/>
        </p:nvCxnSpPr>
        <p:spPr>
          <a:xfrm>
            <a:off x="5120640" y="4572000"/>
            <a:ext cx="2116836" cy="0"/>
          </a:xfrm>
          <a:prstGeom prst="line">
            <a:avLst/>
          </a:prstGeom>
          <a:ln w="15875">
            <a:solidFill>
              <a:srgbClr val="7A6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846320" y="4709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6A66"/>
                </a:solidFill>
                <a:latin typeface="Calibri"/>
              </a:rPr>
              <a:t>−1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1370" y="4709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6A66"/>
                </a:solidFill>
                <a:latin typeface="Calibri"/>
              </a:rPr>
              <a:t>−0.4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8105" y="4709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6A66"/>
                </a:solidFill>
                <a:latin typeface="Calibri"/>
              </a:rPr>
              <a:t>+0.4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3156" y="4709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6A66"/>
                </a:solidFill>
                <a:latin typeface="Calibri"/>
              </a:rPr>
              <a:t>+1</a:t>
            </a:r>
          </a:p>
        </p:txBody>
      </p:sp>
      <p:sp>
        <p:nvSpPr>
          <p:cNvPr id="43" name="Oval 42"/>
          <p:cNvSpPr/>
          <p:nvPr/>
        </p:nvSpPr>
        <p:spPr>
          <a:xfrm>
            <a:off x="7146036" y="4480560"/>
            <a:ext cx="182880" cy="182880"/>
          </a:xfrm>
          <a:prstGeom prst="ellipse">
            <a:avLst/>
          </a:prstGeom>
          <a:solidFill>
            <a:srgbClr val="2F7D5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55690" y="4242816"/>
            <a:ext cx="84673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A6A66"/>
                </a:solidFill>
                <a:latin typeface="Calibri"/>
              </a:rPr>
              <a:t>no side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4675" y="4206240"/>
            <a:ext cx="38084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95844" y="4206240"/>
            <a:ext cx="10515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B85042"/>
                </a:solidFill>
                <a:latin typeface="Cambria"/>
              </a:rPr>
              <a:t>−0.93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47046" y="4453128"/>
            <a:ext cx="846734" cy="237744"/>
          </a:xfrm>
          <a:prstGeom prst="rect">
            <a:avLst/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Connector 47"/>
          <p:cNvCxnSpPr/>
          <p:nvPr/>
        </p:nvCxnSpPr>
        <p:spPr>
          <a:xfrm>
            <a:off x="9111996" y="4572000"/>
            <a:ext cx="2116836" cy="0"/>
          </a:xfrm>
          <a:prstGeom prst="line">
            <a:avLst/>
          </a:prstGeom>
          <a:ln w="15875">
            <a:solidFill>
              <a:srgbClr val="7A6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837676" y="4709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6A66"/>
                </a:solidFill>
                <a:latin typeface="Calibri"/>
              </a:rPr>
              <a:t>−1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2726" y="4709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6A66"/>
                </a:solidFill>
                <a:latin typeface="Calibri"/>
              </a:rPr>
              <a:t>−0.4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19461" y="4709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6A66"/>
                </a:solidFill>
                <a:latin typeface="Calibri"/>
              </a:rPr>
              <a:t>+0.4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54511" y="47091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7A6A66"/>
                </a:solidFill>
                <a:latin typeface="Calibri"/>
              </a:rPr>
              <a:t>+1</a:t>
            </a:r>
          </a:p>
        </p:txBody>
      </p:sp>
      <p:sp>
        <p:nvSpPr>
          <p:cNvPr id="53" name="Oval 52"/>
          <p:cNvSpPr/>
          <p:nvPr/>
        </p:nvSpPr>
        <p:spPr>
          <a:xfrm>
            <a:off x="9096762" y="4480560"/>
            <a:ext cx="182880" cy="182880"/>
          </a:xfrm>
          <a:prstGeom prst="ellipse">
            <a:avLst/>
          </a:prstGeom>
          <a:solidFill>
            <a:srgbClr val="B8504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747046" y="4242816"/>
            <a:ext cx="84673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A6A66"/>
                </a:solidFill>
                <a:latin typeface="Calibri"/>
              </a:rPr>
              <a:t>no side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03320" y="5193792"/>
            <a:ext cx="3808476" cy="868680"/>
          </a:xfrm>
          <a:prstGeom prst="roundRect">
            <a:avLst>
              <a:gd name="adj" fmla="val 6000"/>
            </a:avLst>
          </a:prstGeom>
          <a:solidFill>
            <a:srgbClr val="EDF3EF"/>
          </a:solidFill>
          <a:ln w="19050">
            <a:solidFill>
              <a:srgbClr val="2F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904487" y="5193792"/>
            <a:ext cx="34061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211E"/>
                </a:solidFill>
                <a:latin typeface="Calibri"/>
              </a:rPr>
              <a:t>salad</a:t>
            </a:r>
            <a:r>
              <a:rPr sz="1700" b="0" i="0">
                <a:solidFill>
                  <a:srgbClr val="7A6A66"/>
                </a:solidFill>
                <a:latin typeface="Calibri"/>
              </a:rPr>
              <a:t>   →   </a:t>
            </a:r>
            <a:r>
              <a:rPr sz="1700" b="1" i="0">
                <a:solidFill>
                  <a:srgbClr val="2F7D54"/>
                </a:solidFill>
                <a:latin typeface="Calibri"/>
              </a:rPr>
              <a:t>liked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94675" y="5193792"/>
            <a:ext cx="3808476" cy="868680"/>
          </a:xfrm>
          <a:prstGeom prst="roundRect">
            <a:avLst>
              <a:gd name="adj" fmla="val 6000"/>
            </a:avLst>
          </a:prstGeom>
          <a:solidFill>
            <a:srgbClr val="FAEDEA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95844" y="5193792"/>
            <a:ext cx="34061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211E"/>
                </a:solidFill>
                <a:latin typeface="Calibri"/>
              </a:rPr>
              <a:t>chicken breast</a:t>
            </a:r>
            <a:r>
              <a:rPr sz="1700" b="0" i="0">
                <a:solidFill>
                  <a:srgbClr val="7A6A66"/>
                </a:solidFill>
                <a:latin typeface="Calibri"/>
              </a:rPr>
              <a:t>   →   </a:t>
            </a:r>
            <a:r>
              <a:rPr sz="1700" b="1" i="0">
                <a:solidFill>
                  <a:srgbClr val="B85042"/>
                </a:solidFill>
                <a:latin typeface="Calibri"/>
              </a:rPr>
              <a:t>not liked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475488"/>
            <a:ext cx="420624" cy="42062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7592" y="402336"/>
            <a:ext cx="10195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11E"/>
                </a:solidFill>
                <a:latin typeface="Cambria"/>
              </a:rPr>
              <a:t>The result, and proof it is really NLP</a:t>
            </a:r>
          </a:p>
        </p:txBody>
      </p:sp>
      <p:pic>
        <p:nvPicPr>
          <p:cNvPr id="5" name="Picture 4" descr="site_me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1872"/>
            <a:ext cx="6263640" cy="4528243"/>
          </a:xfrm>
          <a:prstGeom prst="rect">
            <a:avLst/>
          </a:prstGeom>
          <a:ln w="12700">
            <a:solidFill>
              <a:srgbClr val="E7E8D1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710854" y="2955434"/>
            <a:ext cx="6213530" cy="498106"/>
          </a:xfrm>
          <a:prstGeom prst="roundRect">
            <a:avLst>
              <a:gd name="adj" fmla="val 15000"/>
            </a:avLst>
          </a:prstGeom>
          <a:noFill/>
          <a:ln w="31750">
            <a:solidFill>
              <a:srgbClr val="2F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5881555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A6A66"/>
                </a:solidFill>
                <a:latin typeface="Calibri"/>
              </a:rPr>
              <a:t>Figure 1: index.html#biriyani-nights — the menu, ranked by how many reviewers liked each dish.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79" y="1261872"/>
            <a:ext cx="4233672" cy="12960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07223" y="1444751"/>
            <a:ext cx="375818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How a dish is counted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7223" y="1856231"/>
            <a:ext cx="3758184" cy="5645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E211E"/>
                </a:solidFill>
                <a:latin typeface="Calibri"/>
              </a:rPr>
              <a:t>One vote per review per dish. A dish is ranked once 4 reviews take a side; with fewer it is “too little to judge”.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79" y="2740806"/>
            <a:ext cx="4233672" cy="157037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7D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07223" y="2923686"/>
            <a:ext cx="375818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7D54"/>
                </a:solidFill>
                <a:latin typeface="Cambria"/>
              </a:rPr>
              <a:t>Proof test: edit one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3" y="3335166"/>
            <a:ext cx="3758184" cy="8388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E211E"/>
                </a:solidFill>
                <a:latin typeface="Calibri"/>
              </a:rPr>
              <a:t>“mouth watering and tasty af!” → “stale and tasteless!”, rebuild: Gulab Jamun drops from </a:t>
            </a:r>
            <a:r>
              <a:rPr sz="1300" b="1" i="0">
                <a:solidFill>
                  <a:srgbClr val="2E211E"/>
                </a:solidFill>
                <a:latin typeface="Calibri"/>
              </a:rPr>
              <a:t>8 to 7 of 11</a:t>
            </a:r>
            <a:r>
              <a:rPr sz="1300" b="0" i="0">
                <a:solidFill>
                  <a:srgbClr val="2E211E"/>
                </a:solidFill>
                <a:latin typeface="Calibri"/>
              </a:rPr>
              <a:t> liked.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79" y="4494060"/>
            <a:ext cx="4233672" cy="12960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07223" y="4676940"/>
            <a:ext cx="375818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5042"/>
                </a:solidFill>
                <a:latin typeface="Cambria"/>
              </a:rPr>
              <a:t>One honest limitation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7223" y="5088420"/>
            <a:ext cx="3758184" cy="5645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E211E"/>
                </a:solidFill>
                <a:latin typeface="Calibri"/>
              </a:rPr>
              <a:t>Clause accuracy is not measured: we have no clause-level labels, only the star-rating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