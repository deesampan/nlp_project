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Rows removed</c:v>
                </c:pt>
              </c:strCache>
            </c:strRef>
          </c:tx>
          <c:spPr>
            <a:solidFill>
              <a:srgbClr val="B85042"/>
            </a:solidFill>
          </c:spPr>
          <c:cat>
            <c:strRef>
              <c:f>Sheet1!$A$2:$A$5</c:f>
              <c:strCache>
                <c:ptCount val="4"/>
                <c:pt idx="0">
                  <c:v>Language</c:v>
                </c:pt>
                <c:pt idx="1">
                  <c:v>Length / quality</c:v>
                </c:pt>
                <c:pt idx="2">
                  <c:v>Boilerplate</c:v>
                </c:pt>
                <c:pt idx="3">
                  <c:v>Deduplication</c:v>
                </c:pt>
              </c:strCache>
            </c:strRef>
          </c:cat>
          <c:val>
            <c:numRef>
              <c:f>Sheet1!$B$2:$B$5</c:f>
              <c:numCache>
                <c:formatCode>General</c:formatCode>
                <c:ptCount val="4"/>
                <c:pt idx="0">
                  <c:v>2671</c:v>
                </c:pt>
                <c:pt idx="1">
                  <c:v>2765</c:v>
                </c:pt>
                <c:pt idx="2">
                  <c:v>3734</c:v>
                </c:pt>
                <c:pt idx="3">
                  <c:v>1173993</c:v>
                </c:pt>
              </c:numCache>
            </c:numRef>
          </c:val>
        </c:ser>
        <c:dLbls>
          <c:numFmt formatCode="#,##0" sourceLinked="0"/>
          <c:txPr>
            <a:bodyPr/>
            <a:lstStyle/>
            <a:p>
              <a:pPr>
                <a:defRPr sz="1100">
                  <a:solidFill>
                    <a:srgbClr val="2E211E"/>
                  </a:solidFill>
                  <a:latin typeface="Calibri"/>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2E211E"/>
                </a:solidFill>
                <a:latin typeface="Calibri"/>
              </a:defRPr>
            </a:pPr>
          </a:p>
        </c:txPr>
        <c:crossAx val="-2113994440"/>
        <c:crosses val="autoZero"/>
        <c:auto val="1"/>
        <c:lblAlgn val="ctr"/>
        <c:lblOffset val="100"/>
        <c:noMultiLvlLbl val="0"/>
      </c:catAx>
      <c:valAx>
        <c:axId val="-2113994440"/>
        <c:scaling>
          <c:max val="1400000.0"/>
        </c:scaling>
        <c:delete val="0"/>
        <c:axPos val="b"/>
        <c:majorGridlines>
          <c:spPr>
            <a:ln w="9525">
              <a:solidFill>
                <a:srgbClr val="E7E8D1"/>
              </a:solidFill>
            </a:ln>
          </c:spPr>
        </c:majorGridlines>
        <c:majorTickMark val="out"/>
        <c:minorTickMark val="none"/>
        <c:tickLblPos val="nextTo"/>
        <c:txPr>
          <a:bodyPr/>
          <a:lstStyle/>
          <a:p>
            <a:pPr>
              <a:defRPr sz="1000">
                <a:solidFill>
                  <a:srgbClr val="7A6A66"/>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Accuracy</c:v>
                </c:pt>
              </c:strCache>
            </c:strRef>
          </c:tx>
          <c:spPr>
            <a:solidFill>
              <a:srgbClr val="B85042"/>
            </a:solidFill>
          </c:spPr>
          <c:cat>
            <c:strRef>
              <c:f>Sheet1!$A$2:$A$6</c:f>
              <c:strCache>
                <c:ptCount val="5"/>
                <c:pt idx="0">
                  <c:v>Binary + band</c:v>
                </c:pt>
                <c:pt idx="1">
                  <c:v>Default stopwords</c:v>
                </c:pt>
                <c:pt idx="2">
                  <c:v>TF-IDF + LogReg</c:v>
                </c:pt>
                <c:pt idx="3">
                  <c:v>VADER lexicon</c:v>
                </c:pt>
                <c:pt idx="4">
                  <c:v>Majority class</c:v>
                </c:pt>
              </c:strCache>
            </c:strRef>
          </c:cat>
          <c:val>
            <c:numRef>
              <c:f>Sheet1!$B$2:$B$6</c:f>
              <c:numCache>
                <c:formatCode>General</c:formatCode>
                <c:ptCount val="5"/>
                <c:pt idx="0">
                  <c:v>77.4</c:v>
                </c:pt>
                <c:pt idx="1">
                  <c:v>80.1</c:v>
                </c:pt>
                <c:pt idx="2">
                  <c:v>82.1</c:v>
                </c:pt>
                <c:pt idx="3">
                  <c:v>72.2</c:v>
                </c:pt>
                <c:pt idx="4">
                  <c:v>60.3</c:v>
                </c:pt>
              </c:numCache>
            </c:numRef>
          </c:val>
        </c:ser>
        <c:ser>
          <c:idx val="1"/>
          <c:order val="1"/>
          <c:tx>
            <c:strRef>
              <c:f>Sheet1!$C$1</c:f>
              <c:strCache>
                <c:ptCount val="1"/>
                <c:pt idx="0">
                  <c:v>Macro F1</c:v>
                </c:pt>
              </c:strCache>
            </c:strRef>
          </c:tx>
          <c:spPr>
            <a:solidFill>
              <a:srgbClr val="A7BEAE"/>
            </a:solidFill>
          </c:spPr>
          <c:cat>
            <c:strRef>
              <c:f>Sheet1!$A$2:$A$6</c:f>
              <c:strCache>
                <c:ptCount val="5"/>
                <c:pt idx="0">
                  <c:v>Binary + band</c:v>
                </c:pt>
                <c:pt idx="1">
                  <c:v>Default stopwords</c:v>
                </c:pt>
                <c:pt idx="2">
                  <c:v>TF-IDF + LogReg</c:v>
                </c:pt>
                <c:pt idx="3">
                  <c:v>VADER lexicon</c:v>
                </c:pt>
                <c:pt idx="4">
                  <c:v>Majority class</c:v>
                </c:pt>
              </c:strCache>
            </c:strRef>
          </c:cat>
          <c:val>
            <c:numRef>
              <c:f>Sheet1!$C$2:$C$6</c:f>
              <c:numCache>
                <c:formatCode>General</c:formatCode>
                <c:ptCount val="5"/>
                <c:pt idx="0">
                  <c:v>71.6</c:v>
                </c:pt>
                <c:pt idx="1">
                  <c:v>74.8</c:v>
                </c:pt>
                <c:pt idx="2">
                  <c:v>77.3</c:v>
                </c:pt>
                <c:pt idx="3">
                  <c:v>53.7</c:v>
                </c:pt>
                <c:pt idx="4">
                  <c:v>25.1</c:v>
                </c:pt>
              </c:numCache>
            </c:numRef>
          </c:val>
        </c:ser>
        <c:dLbls>
          <c:numFmt formatCode="0.0" sourceLinked="0"/>
          <c:txPr>
            <a:bodyPr/>
            <a:lstStyle/>
            <a:p>
              <a:pPr>
                <a:defRPr sz="1000">
                  <a:solidFill>
                    <a:srgbClr val="2E211E"/>
                  </a:solidFill>
                  <a:latin typeface="Calibri"/>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150">
                <a:solidFill>
                  <a:srgbClr val="2E211E"/>
                </a:solidFill>
                <a:latin typeface="Calibri"/>
              </a:defRPr>
            </a:pPr>
          </a:p>
        </c:txPr>
        <c:crossAx val="-2113994440"/>
        <c:crosses val="autoZero"/>
        <c:auto val="1"/>
        <c:lblAlgn val="ctr"/>
        <c:lblOffset val="100"/>
        <c:noMultiLvlLbl val="0"/>
      </c:catAx>
      <c:valAx>
        <c:axId val="-2113994440"/>
        <c:scaling>
          <c:max val="100.0"/>
        </c:scaling>
        <c:delete val="0"/>
        <c:axPos val="b"/>
        <c:majorGridlines>
          <c:spPr>
            <a:ln w="9525">
              <a:solidFill>
                <a:srgbClr val="E7E8D1"/>
              </a:solidFill>
            </a:ln>
          </c:spPr>
        </c:majorGridlines>
        <c:majorTickMark val="out"/>
        <c:minorTickMark val="none"/>
        <c:tickLblPos val="nextTo"/>
        <c:txPr>
          <a:bodyPr/>
          <a:lstStyle/>
          <a:p>
            <a:pPr>
              <a:defRPr sz="1000">
                <a:solidFill>
                  <a:srgbClr val="7A6A66"/>
                </a:solidFill>
                <a:latin typeface="Calibri"/>
              </a:defRPr>
            </a:pPr>
          </a:p>
        </c:txPr>
        <c:crossAx val="-2068027336"/>
        <c:crosses val="autoZero"/>
      </c:valAx>
    </c:plotArea>
    <c:legend>
      <c:legendPos val="b"/>
      <c:overlay val="0"/>
      <c:txPr>
        <a:bodyPr/>
        <a:lstStyle/>
        <a:p>
          <a:pPr>
            <a:defRPr sz="1100">
              <a:solidFill>
                <a:srgbClr val="2E211E"/>
              </a:solidFill>
              <a:latin typeface="Calibri"/>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Two-person NLP group project analysing 134,612 restaurant reviews to rank individual dishes by customer sentiment.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unit of opinion is not the review, it is the dish mentioned inside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example is the justification for the whole project. Star ratings are review-level; opinions are dish-level.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 reviewers are a self-selected minority who skew toward strong opinions. That is a sampling bias in our corpus.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there is one question about noise, this is the answer. A team that skipped deduplication would have produced confidently wrong results.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traps are silent failures. Neither produces an error message.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ordered stages. Deduplicate before cleaning, so we do not pay to clean rows we are about to drop.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ablation measures impact on the downstream task, not just activity. This is the strongest evidence in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a dish NER would need span-annotated data we do not have and cannot produce in a course timeline.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compare against a majority-class floor and an untrained lexicon so the trained model's contribution is measurable.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Reporting an experiment that did not work is worth more than pretending we only tried what succeeded.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concrete payoff of replacing ABSA with clause-level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live at localhost:8000. The page must be served over HTTP — fetch is blocked on file:// URLs.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Stating limitations precisely is more persuasive than hiding them. Each is a concrete next step.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returning to the business question: what is actually good on the menu.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E211E"/>
        </a:solidFill>
        <a:effectLst/>
      </p:bgPr>
    </p:bg>
    <p:spTree>
      <p:nvGrpSpPr>
        <p:cNvPr id="1" name=""/>
        <p:cNvGrpSpPr/>
        <p:nvPr/>
      </p:nvGrpSpPr>
      <p:grpSpPr/>
      <p:sp>
        <p:nvSpPr>
          <p:cNvPr id="2" name="Oval 1"/>
          <p:cNvSpPr/>
          <p:nvPr/>
        </p:nvSpPr>
        <p:spPr>
          <a:xfrm>
            <a:off x="9784080" y="-1371600"/>
            <a:ext cx="4206240" cy="4206240"/>
          </a:xfrm>
          <a:prstGeom prst="ellipse">
            <a:avLst/>
          </a:prstGeom>
          <a:solidFill>
            <a:srgbClr val="3B2B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881360" y="4846320"/>
            <a:ext cx="2743200" cy="2743200"/>
          </a:xfrm>
          <a:prstGeom prst="ellipse">
            <a:avLst/>
          </a:prstGeom>
          <a:solidFill>
            <a:srgbClr val="3B2B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874519"/>
            <a:ext cx="10820095" cy="310896"/>
          </a:xfrm>
          <a:prstGeom prst="rect">
            <a:avLst/>
          </a:prstGeom>
          <a:noFill/>
        </p:spPr>
        <p:txBody>
          <a:bodyPr wrap="square" anchor="t" lIns="0" rIns="0" tIns="0" bIns="0">
            <a:spAutoFit/>
          </a:bodyPr>
          <a:lstStyle/>
          <a:p>
            <a:pPr algn="l">
              <a:lnSpc>
                <a:spcPct val="100000"/>
              </a:lnSpc>
            </a:pPr>
            <a:r>
              <a:rPr sz="1300" b="1" i="0">
                <a:solidFill>
                  <a:srgbClr val="A7BEAE"/>
                </a:solidFill>
                <a:latin typeface="Calibri"/>
              </a:rPr>
              <a:t>NLP GROUP PROJECT</a:t>
            </a:r>
          </a:p>
        </p:txBody>
      </p:sp>
      <p:sp>
        <p:nvSpPr>
          <p:cNvPr id="5" name="TextBox 4"/>
          <p:cNvSpPr txBox="1"/>
          <p:nvPr/>
        </p:nvSpPr>
        <p:spPr>
          <a:xfrm>
            <a:off x="685800" y="2286000"/>
            <a:ext cx="8778240" cy="1783080"/>
          </a:xfrm>
          <a:prstGeom prst="rect">
            <a:avLst/>
          </a:prstGeom>
          <a:noFill/>
        </p:spPr>
        <p:txBody>
          <a:bodyPr wrap="square" anchor="t" lIns="0" rIns="0" tIns="0" bIns="0">
            <a:spAutoFit/>
          </a:bodyPr>
          <a:lstStyle/>
          <a:p>
            <a:pPr algn="l">
              <a:lnSpc>
                <a:spcPct val="102000"/>
              </a:lnSpc>
            </a:pPr>
            <a:r>
              <a:rPr sz="4600" b="1" i="0">
                <a:solidFill>
                  <a:srgbClr val="FFFFFF"/>
                </a:solidFill>
                <a:latin typeface="Cambria"/>
              </a:rPr>
              <a:t>Restaurant Recommendation</a:t>
            </a:r>
          </a:p>
          <a:p>
            <a:pPr algn="l">
              <a:lnSpc>
                <a:spcPct val="102000"/>
              </a:lnSpc>
            </a:pPr>
            <a:r>
              <a:rPr sz="4600" b="1" i="0">
                <a:solidFill>
                  <a:srgbClr val="FFFFFF"/>
                </a:solidFill>
                <a:latin typeface="Cambria"/>
              </a:rPr>
              <a:t>From Reviews</a:t>
            </a:r>
          </a:p>
        </p:txBody>
      </p:sp>
      <p:sp>
        <p:nvSpPr>
          <p:cNvPr id="6" name="TextBox 5"/>
          <p:cNvSpPr txBox="1"/>
          <p:nvPr/>
        </p:nvSpPr>
        <p:spPr>
          <a:xfrm>
            <a:off x="685800" y="4206240"/>
            <a:ext cx="8778240" cy="457200"/>
          </a:xfrm>
          <a:prstGeom prst="rect">
            <a:avLst/>
          </a:prstGeom>
          <a:noFill/>
        </p:spPr>
        <p:txBody>
          <a:bodyPr wrap="square" anchor="t" lIns="0" rIns="0" tIns="0" bIns="0">
            <a:spAutoFit/>
          </a:bodyPr>
          <a:lstStyle/>
          <a:p>
            <a:pPr algn="l">
              <a:lnSpc>
                <a:spcPct val="100000"/>
              </a:lnSpc>
            </a:pPr>
            <a:r>
              <a:rPr sz="1600" b="0" i="0">
                <a:solidFill>
                  <a:srgbClr val="E7E8D1"/>
                </a:solidFill>
                <a:latin typeface="Calibri"/>
              </a:rPr>
              <a:t>Finding what is actually good on the menu, from 134,612 customer reviews</a:t>
            </a:r>
          </a:p>
        </p:txBody>
      </p:sp>
      <p:sp>
        <p:nvSpPr>
          <p:cNvPr id="7" name="TextBox 6"/>
          <p:cNvSpPr txBox="1"/>
          <p:nvPr/>
        </p:nvSpPr>
        <p:spPr>
          <a:xfrm>
            <a:off x="685800" y="5440680"/>
            <a:ext cx="10820095" cy="365760"/>
          </a:xfrm>
          <a:prstGeom prst="rect">
            <a:avLst/>
          </a:prstGeom>
          <a:noFill/>
        </p:spPr>
        <p:txBody>
          <a:bodyPr wrap="square" anchor="t" lIns="0" rIns="0" tIns="0" bIns="0">
            <a:spAutoFit/>
          </a:bodyPr>
          <a:lstStyle/>
          <a:p>
            <a:pPr algn="l">
              <a:lnSpc>
                <a:spcPct val="100000"/>
              </a:lnSpc>
            </a:pPr>
            <a:r>
              <a:rPr sz="1300" b="0" i="0">
                <a:solidFill>
                  <a:srgbClr val="7A6A66"/>
                </a:solidFill>
                <a:latin typeface="Calibri"/>
              </a:rPr>
              <a:t>Deesampan Vongsurit  ·  6510766          Wattanan Jiratriluk  ·  6520214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Oval 1"/>
          <p:cNvSpPr/>
          <p:nvPr/>
        </p:nvSpPr>
        <p:spPr>
          <a:xfrm>
            <a:off x="685800" y="475488"/>
            <a:ext cx="420624" cy="42062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420624" cy="420624"/>
          </a:xfrm>
          <a:prstGeom prst="rect">
            <a:avLst/>
          </a:prstGeom>
          <a:noFill/>
        </p:spPr>
        <p:txBody>
          <a:bodyPr wrap="square" anchor="ctr" lIns="0" rIns="0" tIns="0" bIns="0">
            <a:spAutoFit/>
          </a:bodyPr>
          <a:lstStyle/>
          <a:p>
            <a:pPr algn="ctr">
              <a:lnSpc>
                <a:spcPct val="100000"/>
              </a:lnSpc>
            </a:pPr>
            <a:r>
              <a:rPr sz="1500" b="1" i="0">
                <a:solidFill>
                  <a:srgbClr val="FFFFFF"/>
                </a:solidFill>
                <a:latin typeface="Calibri"/>
              </a:rPr>
              <a:t>1</a:t>
            </a:r>
          </a:p>
        </p:txBody>
      </p:sp>
      <p:sp>
        <p:nvSpPr>
          <p:cNvPr id="4" name="TextBox 3"/>
          <p:cNvSpPr txBox="1"/>
          <p:nvPr/>
        </p:nvSpPr>
        <p:spPr>
          <a:xfrm>
            <a:off x="1307592" y="402336"/>
            <a:ext cx="10198303" cy="566928"/>
          </a:xfrm>
          <a:prstGeom prst="rect">
            <a:avLst/>
          </a:prstGeom>
          <a:noFill/>
        </p:spPr>
        <p:txBody>
          <a:bodyPr wrap="square" anchor="ctr" lIns="0" rIns="0" tIns="0" bIns="0">
            <a:spAutoFit/>
          </a:bodyPr>
          <a:lstStyle/>
          <a:p>
            <a:pPr algn="l">
              <a:lnSpc>
                <a:spcPct val="100000"/>
              </a:lnSpc>
            </a:pPr>
            <a:r>
              <a:rPr sz="3000" b="1" i="0">
                <a:solidFill>
                  <a:srgbClr val="2E211E"/>
                </a:solidFill>
                <a:latin typeface="Cambria"/>
              </a:rPr>
              <a:t>The problem</a:t>
            </a:r>
          </a:p>
        </p:txBody>
      </p:sp>
      <p:sp>
        <p:nvSpPr>
          <p:cNvPr id="5" name="TextBox 4"/>
          <p:cNvSpPr txBox="1"/>
          <p:nvPr/>
        </p:nvSpPr>
        <p:spPr>
          <a:xfrm>
            <a:off x="685800" y="1417320"/>
            <a:ext cx="5852160" cy="2743200"/>
          </a:xfrm>
          <a:prstGeom prst="rect">
            <a:avLst/>
          </a:prstGeom>
          <a:noFill/>
        </p:spPr>
        <p:txBody>
          <a:bodyPr wrap="square" anchor="t" lIns="0" rIns="0" tIns="0" bIns="0">
            <a:spAutoFit/>
          </a:bodyPr>
          <a:lstStyle/>
          <a:p>
            <a:pPr algn="l">
              <a:lnSpc>
                <a:spcPct val="114000"/>
              </a:lnSpc>
              <a:spcAft>
                <a:spcPts val="900"/>
              </a:spcAft>
            </a:pPr>
            <a:r>
              <a:rPr sz="1500" b="0" i="0">
                <a:solidFill>
                  <a:srgbClr val="2E211E"/>
                </a:solidFill>
                <a:latin typeface="Calibri"/>
              </a:rPr>
              <a:t>•  Restaurants receive hundreds of reviews every month</a:t>
            </a:r>
          </a:p>
          <a:p>
            <a:pPr algn="l">
              <a:lnSpc>
                <a:spcPct val="114000"/>
              </a:lnSpc>
              <a:spcAft>
                <a:spcPts val="900"/>
              </a:spcAft>
            </a:pPr>
            <a:r>
              <a:rPr sz="1500" b="0" i="0">
                <a:solidFill>
                  <a:srgbClr val="2E211E"/>
                </a:solidFill>
                <a:latin typeface="Calibri"/>
              </a:rPr>
              <a:t>•  The useful information — which dishes people like — is buried in unstructured text</a:t>
            </a:r>
          </a:p>
          <a:p>
            <a:pPr algn="l">
              <a:lnSpc>
                <a:spcPct val="114000"/>
              </a:lnSpc>
              <a:spcAft>
                <a:spcPts val="900"/>
              </a:spcAft>
            </a:pPr>
            <a:r>
              <a:rPr sz="1500" b="0" i="0">
                <a:solidFill>
                  <a:srgbClr val="2E211E"/>
                </a:solidFill>
                <a:latin typeface="Calibri"/>
              </a:rPr>
              <a:t>•  Manual reading is slow, inconsistent, and does not scale</a:t>
            </a:r>
          </a:p>
          <a:p>
            <a:pPr algn="l">
              <a:lnSpc>
                <a:spcPct val="114000"/>
              </a:lnSpc>
              <a:spcAft>
                <a:spcPts val="900"/>
              </a:spcAft>
            </a:pPr>
            <a:r>
              <a:rPr sz="1500" b="0" i="0">
                <a:solidFill>
                  <a:srgbClr val="2E211E"/>
                </a:solidFill>
                <a:latin typeface="Calibri"/>
              </a:rPr>
              <a:t>•  Menu decisions end up being made on intuition</a:t>
            </a:r>
          </a:p>
        </p:txBody>
      </p:sp>
      <p:sp>
        <p:nvSpPr>
          <p:cNvPr id="6" name="Rounded Rectangle 5"/>
          <p:cNvSpPr/>
          <p:nvPr/>
        </p:nvSpPr>
        <p:spPr>
          <a:xfrm>
            <a:off x="685800" y="4343400"/>
            <a:ext cx="5852160" cy="1508760"/>
          </a:xfrm>
          <a:prstGeom prst="roundRect">
            <a:avLst>
              <a:gd name="adj" fmla="val 6000"/>
            </a:avLst>
          </a:prstGeom>
          <a:solidFill>
            <a:srgbClr val="FFFFFF"/>
          </a:solidFill>
          <a:ln w="12700">
            <a:solidFill>
              <a:srgbClr val="E7E8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23544" y="4526280"/>
            <a:ext cx="5376672" cy="402336"/>
          </a:xfrm>
          <a:prstGeom prst="rect">
            <a:avLst/>
          </a:prstGeom>
          <a:noFill/>
        </p:spPr>
        <p:txBody>
          <a:bodyPr wrap="square" anchor="t" lIns="0" rIns="0" tIns="0" bIns="0">
            <a:spAutoFit/>
          </a:bodyPr>
          <a:lstStyle/>
          <a:p>
            <a:pPr algn="l">
              <a:lnSpc>
                <a:spcPct val="100000"/>
              </a:lnSpc>
            </a:pPr>
            <a:r>
              <a:rPr sz="1700" b="1" i="0">
                <a:solidFill>
                  <a:srgbClr val="B85042"/>
                </a:solidFill>
                <a:latin typeface="Cambria"/>
              </a:rPr>
              <a:t>The cost</a:t>
            </a:r>
          </a:p>
        </p:txBody>
      </p:sp>
      <p:sp>
        <p:nvSpPr>
          <p:cNvPr id="8" name="TextBox 7"/>
          <p:cNvSpPr txBox="1"/>
          <p:nvPr/>
        </p:nvSpPr>
        <p:spPr>
          <a:xfrm>
            <a:off x="923544" y="5001768"/>
            <a:ext cx="5376672" cy="649224"/>
          </a:xfrm>
          <a:prstGeom prst="rect">
            <a:avLst/>
          </a:prstGeom>
          <a:noFill/>
        </p:spPr>
        <p:txBody>
          <a:bodyPr wrap="square" anchor="t" lIns="0" rIns="0" tIns="0" bIns="0">
            <a:spAutoFit/>
          </a:bodyPr>
          <a:lstStyle/>
          <a:p>
            <a:pPr algn="l">
              <a:lnSpc>
                <a:spcPct val="120000"/>
              </a:lnSpc>
            </a:pPr>
            <a:r>
              <a:rPr sz="1350" b="0" i="0">
                <a:solidFill>
                  <a:srgbClr val="2E211E"/>
                </a:solidFill>
                <a:latin typeface="Calibri"/>
              </a:rPr>
              <a:t>Weak dishes stay on the menu. Strong dishes go unpromoted.</a:t>
            </a:r>
          </a:p>
        </p:txBody>
      </p:sp>
      <p:sp>
        <p:nvSpPr>
          <p:cNvPr id="9" name="Rounded Rectangle 8"/>
          <p:cNvSpPr/>
          <p:nvPr/>
        </p:nvSpPr>
        <p:spPr>
          <a:xfrm>
            <a:off x="7269480" y="1417320"/>
            <a:ext cx="2286000" cy="1371600"/>
          </a:xfrm>
          <a:prstGeom prst="roundRect">
            <a:avLst>
              <a:gd name="adj" fmla="val 6000"/>
            </a:avLst>
          </a:prstGeom>
          <a:solidFill>
            <a:srgbClr val="FFFFFF"/>
          </a:solidFill>
          <a:ln w="12700">
            <a:solidFill>
              <a:srgbClr val="E7E8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52360" y="1563624"/>
            <a:ext cx="1920240" cy="713232"/>
          </a:xfrm>
          <a:prstGeom prst="rect">
            <a:avLst/>
          </a:prstGeom>
          <a:noFill/>
        </p:spPr>
        <p:txBody>
          <a:bodyPr wrap="square" anchor="ctr" lIns="0" rIns="0" tIns="0" bIns="0">
            <a:spAutoFit/>
          </a:bodyPr>
          <a:lstStyle/>
          <a:p>
            <a:pPr algn="l">
              <a:lnSpc>
                <a:spcPct val="100000"/>
              </a:lnSpc>
            </a:pPr>
            <a:r>
              <a:rPr sz="3100" b="1" i="0">
                <a:solidFill>
                  <a:srgbClr val="B85042"/>
                </a:solidFill>
                <a:latin typeface="Cambria"/>
              </a:rPr>
              <a:t>12,494</a:t>
            </a:r>
          </a:p>
        </p:txBody>
      </p:sp>
      <p:sp>
        <p:nvSpPr>
          <p:cNvPr id="11" name="TextBox 10"/>
          <p:cNvSpPr txBox="1"/>
          <p:nvPr/>
        </p:nvSpPr>
        <p:spPr>
          <a:xfrm>
            <a:off x="7452360" y="2286000"/>
            <a:ext cx="1920240" cy="411480"/>
          </a:xfrm>
          <a:prstGeom prst="rect">
            <a:avLst/>
          </a:prstGeom>
          <a:noFill/>
        </p:spPr>
        <p:txBody>
          <a:bodyPr wrap="square" anchor="t" lIns="0" rIns="0" tIns="0" bIns="0">
            <a:spAutoFit/>
          </a:bodyPr>
          <a:lstStyle/>
          <a:p>
            <a:pPr algn="l">
              <a:lnSpc>
                <a:spcPct val="110000"/>
              </a:lnSpc>
            </a:pPr>
            <a:r>
              <a:rPr sz="1150" b="0" i="0">
                <a:solidFill>
                  <a:srgbClr val="7A6A66"/>
                </a:solidFill>
                <a:latin typeface="Calibri"/>
              </a:rPr>
              <a:t>restaurants in the dataset</a:t>
            </a:r>
          </a:p>
        </p:txBody>
      </p:sp>
      <p:sp>
        <p:nvSpPr>
          <p:cNvPr id="12" name="Rounded Rectangle 11"/>
          <p:cNvSpPr/>
          <p:nvPr/>
        </p:nvSpPr>
        <p:spPr>
          <a:xfrm>
            <a:off x="9738360" y="1417320"/>
            <a:ext cx="2286000" cy="1371600"/>
          </a:xfrm>
          <a:prstGeom prst="roundRect">
            <a:avLst>
              <a:gd name="adj" fmla="val 6000"/>
            </a:avLst>
          </a:prstGeom>
          <a:solidFill>
            <a:srgbClr val="FFFFFF"/>
          </a:solidFill>
          <a:ln w="12700">
            <a:solidFill>
              <a:srgbClr val="E7E8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921240" y="1563624"/>
            <a:ext cx="1920240" cy="713232"/>
          </a:xfrm>
          <a:prstGeom prst="rect">
            <a:avLst/>
          </a:prstGeom>
          <a:noFill/>
        </p:spPr>
        <p:txBody>
          <a:bodyPr wrap="square" anchor="ctr" lIns="0" rIns="0" tIns="0" bIns="0">
            <a:spAutoFit/>
          </a:bodyPr>
          <a:lstStyle/>
          <a:p>
            <a:pPr algn="l">
              <a:lnSpc>
                <a:spcPct val="100000"/>
              </a:lnSpc>
            </a:pPr>
            <a:r>
              <a:rPr sz="3100" b="1" i="0">
                <a:solidFill>
                  <a:srgbClr val="B85042"/>
                </a:solidFill>
                <a:latin typeface="Cambria"/>
              </a:rPr>
              <a:t>1.3M</a:t>
            </a:r>
          </a:p>
        </p:txBody>
      </p:sp>
      <p:sp>
        <p:nvSpPr>
          <p:cNvPr id="14" name="TextBox 13"/>
          <p:cNvSpPr txBox="1"/>
          <p:nvPr/>
        </p:nvSpPr>
        <p:spPr>
          <a:xfrm>
            <a:off x="9921240" y="2286000"/>
            <a:ext cx="1920240" cy="411480"/>
          </a:xfrm>
          <a:prstGeom prst="rect">
            <a:avLst/>
          </a:prstGeom>
          <a:noFill/>
        </p:spPr>
        <p:txBody>
          <a:bodyPr wrap="square" anchor="t" lIns="0" rIns="0" tIns="0" bIns="0">
            <a:spAutoFit/>
          </a:bodyPr>
          <a:lstStyle/>
          <a:p>
            <a:pPr algn="l">
              <a:lnSpc>
                <a:spcPct val="110000"/>
              </a:lnSpc>
            </a:pPr>
            <a:r>
              <a:rPr sz="1150" b="0" i="0">
                <a:solidFill>
                  <a:srgbClr val="7A6A66"/>
                </a:solidFill>
                <a:latin typeface="Calibri"/>
              </a:rPr>
              <a:t>raw review entries</a:t>
            </a:r>
          </a:p>
        </p:txBody>
      </p:sp>
      <p:sp>
        <p:nvSpPr>
          <p:cNvPr id="15" name="Rounded Rectangle 14"/>
          <p:cNvSpPr/>
          <p:nvPr/>
        </p:nvSpPr>
        <p:spPr>
          <a:xfrm>
            <a:off x="7269480" y="3017520"/>
            <a:ext cx="2286000" cy="1371600"/>
          </a:xfrm>
          <a:prstGeom prst="roundRect">
            <a:avLst>
              <a:gd name="adj" fmla="val 6000"/>
            </a:avLst>
          </a:prstGeom>
          <a:solidFill>
            <a:srgbClr val="FFFFFF"/>
          </a:solidFill>
          <a:ln w="12700">
            <a:solidFill>
              <a:srgbClr val="E7E8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452360" y="3163824"/>
            <a:ext cx="1920240" cy="713232"/>
          </a:xfrm>
          <a:prstGeom prst="rect">
            <a:avLst/>
          </a:prstGeom>
          <a:noFill/>
        </p:spPr>
        <p:txBody>
          <a:bodyPr wrap="square" anchor="ctr" lIns="0" rIns="0" tIns="0" bIns="0">
            <a:spAutoFit/>
          </a:bodyPr>
          <a:lstStyle/>
          <a:p>
            <a:pPr algn="l">
              <a:lnSpc>
                <a:spcPct val="100000"/>
              </a:lnSpc>
            </a:pPr>
            <a:r>
              <a:rPr sz="3100" b="1" i="0">
                <a:solidFill>
                  <a:srgbClr val="2E211E"/>
                </a:solidFill>
                <a:latin typeface="Cambria"/>
              </a:rPr>
              <a:t>3</a:t>
            </a:r>
          </a:p>
        </p:txBody>
      </p:sp>
      <p:sp>
        <p:nvSpPr>
          <p:cNvPr id="17" name="TextBox 16"/>
          <p:cNvSpPr txBox="1"/>
          <p:nvPr/>
        </p:nvSpPr>
        <p:spPr>
          <a:xfrm>
            <a:off x="7452360" y="3886200"/>
            <a:ext cx="1920240" cy="411480"/>
          </a:xfrm>
          <a:prstGeom prst="rect">
            <a:avLst/>
          </a:prstGeom>
          <a:noFill/>
        </p:spPr>
        <p:txBody>
          <a:bodyPr wrap="square" anchor="t" lIns="0" rIns="0" tIns="0" bIns="0">
            <a:spAutoFit/>
          </a:bodyPr>
          <a:lstStyle/>
          <a:p>
            <a:pPr algn="l">
              <a:lnSpc>
                <a:spcPct val="110000"/>
              </a:lnSpc>
            </a:pPr>
            <a:r>
              <a:rPr sz="1150" b="0" i="0">
                <a:solidFill>
                  <a:srgbClr val="7A6A66"/>
                </a:solidFill>
                <a:latin typeface="Calibri"/>
              </a:rPr>
              <a:t>median reviews per restaurant</a:t>
            </a:r>
          </a:p>
        </p:txBody>
      </p:sp>
      <p:sp>
        <p:nvSpPr>
          <p:cNvPr id="18" name="Rounded Rectangle 17"/>
          <p:cNvSpPr/>
          <p:nvPr/>
        </p:nvSpPr>
        <p:spPr>
          <a:xfrm>
            <a:off x="9738360" y="3017520"/>
            <a:ext cx="2286000" cy="1371600"/>
          </a:xfrm>
          <a:prstGeom prst="roundRect">
            <a:avLst>
              <a:gd name="adj" fmla="val 6000"/>
            </a:avLst>
          </a:prstGeom>
          <a:solidFill>
            <a:srgbClr val="FFFFFF"/>
          </a:solidFill>
          <a:ln w="12700">
            <a:solidFill>
              <a:srgbClr val="E7E8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921240" y="3163824"/>
            <a:ext cx="1920240" cy="713232"/>
          </a:xfrm>
          <a:prstGeom prst="rect">
            <a:avLst/>
          </a:prstGeom>
          <a:noFill/>
        </p:spPr>
        <p:txBody>
          <a:bodyPr wrap="square" anchor="ctr" lIns="0" rIns="0" tIns="0" bIns="0">
            <a:spAutoFit/>
          </a:bodyPr>
          <a:lstStyle/>
          <a:p>
            <a:pPr algn="l">
              <a:lnSpc>
                <a:spcPct val="100000"/>
              </a:lnSpc>
            </a:pPr>
            <a:r>
              <a:rPr sz="3100" b="1" i="0">
                <a:solidFill>
                  <a:srgbClr val="2E211E"/>
                </a:solidFill>
                <a:latin typeface="Cambria"/>
              </a:rPr>
              <a:t>524</a:t>
            </a:r>
          </a:p>
        </p:txBody>
      </p:sp>
      <p:sp>
        <p:nvSpPr>
          <p:cNvPr id="20" name="TextBox 19"/>
          <p:cNvSpPr txBox="1"/>
          <p:nvPr/>
        </p:nvSpPr>
        <p:spPr>
          <a:xfrm>
            <a:off x="9921240" y="3886200"/>
            <a:ext cx="1920240" cy="411480"/>
          </a:xfrm>
          <a:prstGeom prst="rect">
            <a:avLst/>
          </a:prstGeom>
          <a:noFill/>
        </p:spPr>
        <p:txBody>
          <a:bodyPr wrap="square" anchor="t" lIns="0" rIns="0" tIns="0" bIns="0">
            <a:spAutoFit/>
          </a:bodyPr>
          <a:lstStyle/>
          <a:p>
            <a:pPr algn="l">
              <a:lnSpc>
                <a:spcPct val="110000"/>
              </a:lnSpc>
            </a:pPr>
            <a:r>
              <a:rPr sz="1150" b="0" i="0">
                <a:solidFill>
                  <a:srgbClr val="7A6A66"/>
                </a:solidFill>
                <a:latin typeface="Calibri"/>
              </a:rPr>
              <a:t>reviews at the busiest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Oval 1"/>
          <p:cNvSpPr/>
          <p:nvPr/>
        </p:nvSpPr>
        <p:spPr>
          <a:xfrm>
            <a:off x="685800" y="475488"/>
            <a:ext cx="420624" cy="42062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420624" cy="420624"/>
          </a:xfrm>
          <a:prstGeom prst="rect">
            <a:avLst/>
          </a:prstGeom>
          <a:noFill/>
        </p:spPr>
        <p:txBody>
          <a:bodyPr wrap="square" anchor="ctr" lIns="0" rIns="0" tIns="0" bIns="0">
            <a:spAutoFit/>
          </a:bodyPr>
          <a:lstStyle/>
          <a:p>
            <a:pPr algn="ctr">
              <a:lnSpc>
                <a:spcPct val="100000"/>
              </a:lnSpc>
            </a:pPr>
            <a:r>
              <a:rPr sz="1500" b="1" i="0">
                <a:solidFill>
                  <a:srgbClr val="FFFFFF"/>
                </a:solidFill>
                <a:latin typeface="Calibri"/>
              </a:rPr>
              <a:t>2</a:t>
            </a:r>
          </a:p>
        </p:txBody>
      </p:sp>
      <p:sp>
        <p:nvSpPr>
          <p:cNvPr id="4" name="TextBox 3"/>
          <p:cNvSpPr txBox="1"/>
          <p:nvPr/>
        </p:nvSpPr>
        <p:spPr>
          <a:xfrm>
            <a:off x="1307592" y="402336"/>
            <a:ext cx="10198303" cy="566928"/>
          </a:xfrm>
          <a:prstGeom prst="rect">
            <a:avLst/>
          </a:prstGeom>
          <a:noFill/>
        </p:spPr>
        <p:txBody>
          <a:bodyPr wrap="square" anchor="ctr" lIns="0" rIns="0" tIns="0" bIns="0">
            <a:spAutoFit/>
          </a:bodyPr>
          <a:lstStyle/>
          <a:p>
            <a:pPr algn="l">
              <a:lnSpc>
                <a:spcPct val="100000"/>
              </a:lnSpc>
            </a:pPr>
            <a:r>
              <a:rPr sz="3000" b="1" i="0">
                <a:solidFill>
                  <a:srgbClr val="2E211E"/>
                </a:solidFill>
                <a:latin typeface="Cambria"/>
              </a:rPr>
              <a:t>Why this needs NLP</a:t>
            </a:r>
          </a:p>
        </p:txBody>
      </p:sp>
      <p:sp>
        <p:nvSpPr>
          <p:cNvPr id="5" name="Rounded Rectangle 4"/>
          <p:cNvSpPr/>
          <p:nvPr/>
        </p:nvSpPr>
        <p:spPr>
          <a:xfrm>
            <a:off x="685800" y="1417320"/>
            <a:ext cx="10820095" cy="1325880"/>
          </a:xfrm>
          <a:prstGeom prst="roundRect">
            <a:avLst>
              <a:gd name="adj" fmla="val 6000"/>
            </a:avLst>
          </a:prstGeom>
          <a:solidFill>
            <a:srgbClr val="FFFFFF"/>
          </a:solidFill>
          <a:ln w="25400">
            <a:solidFill>
              <a:srgbClr val="A7BEA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1417320"/>
            <a:ext cx="10180015" cy="1325880"/>
          </a:xfrm>
          <a:prstGeom prst="rect">
            <a:avLst/>
          </a:prstGeom>
          <a:noFill/>
        </p:spPr>
        <p:txBody>
          <a:bodyPr wrap="square" anchor="ctr" lIns="0" rIns="0" tIns="0" bIns="0">
            <a:spAutoFit/>
          </a:bodyPr>
          <a:lstStyle/>
          <a:p>
            <a:pPr algn="l">
              <a:lnSpc>
                <a:spcPct val="100000"/>
              </a:lnSpc>
            </a:pPr>
            <a:r>
              <a:rPr sz="2400" b="0" i="1">
                <a:solidFill>
                  <a:srgbClr val="2E211E"/>
                </a:solidFill>
                <a:latin typeface="Cambria"/>
              </a:rPr>
              <a:t>“The salad was </a:t>
            </a:r>
            <a:r>
              <a:rPr sz="2400" b="1" i="1">
                <a:solidFill>
                  <a:srgbClr val="2F7D54"/>
                </a:solidFill>
                <a:latin typeface="Cambria"/>
              </a:rPr>
              <a:t>amazing</a:t>
            </a:r>
            <a:r>
              <a:rPr sz="2400" b="0" i="1">
                <a:solidFill>
                  <a:srgbClr val="2E211E"/>
                </a:solidFill>
                <a:latin typeface="Cambria"/>
              </a:rPr>
              <a:t>, but the chicken breast was </a:t>
            </a:r>
            <a:r>
              <a:rPr sz="2400" b="1" i="1">
                <a:solidFill>
                  <a:srgbClr val="B85042"/>
                </a:solidFill>
                <a:latin typeface="Cambria"/>
              </a:rPr>
              <a:t>cold and greasy</a:t>
            </a:r>
            <a:r>
              <a:rPr sz="2400" b="0" i="1">
                <a:solidFill>
                  <a:srgbClr val="2E211E"/>
                </a:solidFill>
                <a:latin typeface="Cambria"/>
              </a:rPr>
              <a:t>.”</a:t>
            </a:r>
          </a:p>
        </p:txBody>
      </p:sp>
      <p:sp>
        <p:nvSpPr>
          <p:cNvPr id="7" name="TextBox 6"/>
          <p:cNvSpPr txBox="1"/>
          <p:nvPr/>
        </p:nvSpPr>
        <p:spPr>
          <a:xfrm>
            <a:off x="685800" y="2926080"/>
            <a:ext cx="10820095" cy="365760"/>
          </a:xfrm>
          <a:prstGeom prst="rect">
            <a:avLst/>
          </a:prstGeom>
          <a:noFill/>
        </p:spPr>
        <p:txBody>
          <a:bodyPr wrap="square" anchor="t" lIns="0" rIns="0" tIns="0" bIns="0">
            <a:spAutoFit/>
          </a:bodyPr>
          <a:lstStyle/>
          <a:p>
            <a:pPr algn="l">
              <a:lnSpc>
                <a:spcPct val="100000"/>
              </a:lnSpc>
            </a:pPr>
            <a:r>
              <a:rPr sz="1600" b="1" i="0">
                <a:solidFill>
                  <a:srgbClr val="2E211E"/>
                </a:solidFill>
                <a:latin typeface="Calibri"/>
              </a:rPr>
              <a:t>One review. One star rating. Two opposite opinions.</a:t>
            </a:r>
          </a:p>
        </p:txBody>
      </p:sp>
      <p:sp>
        <p:nvSpPr>
          <p:cNvPr id="8" name="Rounded Rectangle 7"/>
          <p:cNvSpPr/>
          <p:nvPr/>
        </p:nvSpPr>
        <p:spPr>
          <a:xfrm>
            <a:off x="685800" y="3520440"/>
            <a:ext cx="5486400" cy="2331720"/>
          </a:xfrm>
          <a:prstGeom prst="roundRect">
            <a:avLst>
              <a:gd name="adj" fmla="val 6000"/>
            </a:avLst>
          </a:prstGeom>
          <a:solidFill>
            <a:srgbClr val="FFFFFF"/>
          </a:solidFill>
          <a:ln w="12700">
            <a:solidFill>
              <a:srgbClr val="E7E8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23544" y="3703320"/>
            <a:ext cx="5010912" cy="402336"/>
          </a:xfrm>
          <a:prstGeom prst="rect">
            <a:avLst/>
          </a:prstGeom>
          <a:noFill/>
        </p:spPr>
        <p:txBody>
          <a:bodyPr wrap="square" anchor="t" lIns="0" rIns="0" tIns="0" bIns="0">
            <a:spAutoFit/>
          </a:bodyPr>
          <a:lstStyle/>
          <a:p>
            <a:pPr algn="l">
              <a:lnSpc>
                <a:spcPct val="100000"/>
              </a:lnSpc>
            </a:pPr>
            <a:r>
              <a:rPr sz="1700" b="1" i="0">
                <a:solidFill>
                  <a:srgbClr val="B85042"/>
                </a:solidFill>
                <a:latin typeface="Cambria"/>
              </a:rPr>
              <a:t>A star rating cannot express this</a:t>
            </a:r>
          </a:p>
        </p:txBody>
      </p:sp>
      <p:sp>
        <p:nvSpPr>
          <p:cNvPr id="10" name="TextBox 9"/>
          <p:cNvSpPr txBox="1"/>
          <p:nvPr/>
        </p:nvSpPr>
        <p:spPr>
          <a:xfrm>
            <a:off x="923544" y="4178808"/>
            <a:ext cx="5010912" cy="1472184"/>
          </a:xfrm>
          <a:prstGeom prst="rect">
            <a:avLst/>
          </a:prstGeom>
          <a:noFill/>
        </p:spPr>
        <p:txBody>
          <a:bodyPr wrap="square" anchor="t" lIns="0" rIns="0" tIns="0" bIns="0">
            <a:spAutoFit/>
          </a:bodyPr>
          <a:lstStyle/>
          <a:p>
            <a:pPr algn="l">
              <a:lnSpc>
                <a:spcPct val="120000"/>
              </a:lnSpc>
            </a:pPr>
            <a:r>
              <a:rPr sz="1350" b="0" i="0">
                <a:solidFill>
                  <a:srgbClr val="2E211E"/>
                </a:solidFill>
                <a:latin typeface="Calibri"/>
              </a:rPr>
              <a:t>It describes the whole review, so both dishes receive the same sentiment.</a:t>
            </a:r>
          </a:p>
          <a:p>
            <a:pPr algn="l">
              <a:lnSpc>
                <a:spcPct val="120000"/>
              </a:lnSpc>
            </a:pPr>
            <a:r>
              <a:rPr sz="1350" b="0" i="0">
                <a:solidFill>
                  <a:srgbClr val="2E211E"/>
                </a:solidFill>
                <a:latin typeface="Calibri"/>
              </a:rPr>
              <a:t>Ranking dishes this way silently credits every dish for opinions aimed at something else.</a:t>
            </a:r>
          </a:p>
        </p:txBody>
      </p:sp>
      <p:sp>
        <p:nvSpPr>
          <p:cNvPr id="11" name="Rounded Rectangle 10"/>
          <p:cNvSpPr/>
          <p:nvPr/>
        </p:nvSpPr>
        <p:spPr>
          <a:xfrm>
            <a:off x="6492240" y="3520440"/>
            <a:ext cx="5010912" cy="2331720"/>
          </a:xfrm>
          <a:prstGeom prst="roundRect">
            <a:avLst>
              <a:gd name="adj" fmla="val 6000"/>
            </a:avLst>
          </a:prstGeom>
          <a:solidFill>
            <a:srgbClr val="FFFFFF"/>
          </a:solidFill>
          <a:ln w="12700">
            <a:solidFill>
              <a:srgbClr val="E7E8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729983" y="3703320"/>
            <a:ext cx="4535424" cy="402336"/>
          </a:xfrm>
          <a:prstGeom prst="rect">
            <a:avLst/>
          </a:prstGeom>
          <a:noFill/>
        </p:spPr>
        <p:txBody>
          <a:bodyPr wrap="square" anchor="t" lIns="0" rIns="0" tIns="0" bIns="0">
            <a:spAutoFit/>
          </a:bodyPr>
          <a:lstStyle/>
          <a:p>
            <a:pPr algn="l">
              <a:lnSpc>
                <a:spcPct val="100000"/>
              </a:lnSpc>
            </a:pPr>
            <a:r>
              <a:rPr sz="1700" b="1" i="0">
                <a:solidFill>
                  <a:srgbClr val="2F7D54"/>
                </a:solidFill>
                <a:latin typeface="Cambria"/>
              </a:rPr>
              <a:t>So we work at clause level</a:t>
            </a:r>
          </a:p>
        </p:txBody>
      </p:sp>
      <p:sp>
        <p:nvSpPr>
          <p:cNvPr id="13" name="TextBox 12"/>
          <p:cNvSpPr txBox="1"/>
          <p:nvPr/>
        </p:nvSpPr>
        <p:spPr>
          <a:xfrm>
            <a:off x="6729983" y="4178808"/>
            <a:ext cx="4535424" cy="1472184"/>
          </a:xfrm>
          <a:prstGeom prst="rect">
            <a:avLst/>
          </a:prstGeom>
          <a:noFill/>
        </p:spPr>
        <p:txBody>
          <a:bodyPr wrap="square" anchor="t" lIns="0" rIns="0" tIns="0" bIns="0">
            <a:spAutoFit/>
          </a:bodyPr>
          <a:lstStyle/>
          <a:p>
            <a:pPr algn="l">
              <a:lnSpc>
                <a:spcPct val="120000"/>
              </a:lnSpc>
            </a:pPr>
            <a:r>
              <a:rPr sz="1350" b="0" i="0">
                <a:solidFill>
                  <a:srgbClr val="2E211E"/>
                </a:solidFill>
                <a:latin typeface="Calibri"/>
              </a:rPr>
              <a:t>Split the review at sentence boundaries and at but / however / although.</a:t>
            </a:r>
          </a:p>
          <a:p>
            <a:pPr algn="l">
              <a:lnSpc>
                <a:spcPct val="120000"/>
              </a:lnSpc>
            </a:pPr>
            <a:r>
              <a:rPr sz="1350" b="0" i="0">
                <a:solidFill>
                  <a:srgbClr val="2E211E"/>
                </a:solidFill>
                <a:latin typeface="Calibri"/>
              </a:rPr>
              <a:t>Classify each clause separately and attribute it only to the dishes inside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Oval 1"/>
          <p:cNvSpPr/>
          <p:nvPr/>
        </p:nvSpPr>
        <p:spPr>
          <a:xfrm>
            <a:off x="685800" y="475488"/>
            <a:ext cx="420624" cy="42062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420624" cy="420624"/>
          </a:xfrm>
          <a:prstGeom prst="rect">
            <a:avLst/>
          </a:prstGeom>
          <a:noFill/>
        </p:spPr>
        <p:txBody>
          <a:bodyPr wrap="square" anchor="ctr" lIns="0" rIns="0" tIns="0" bIns="0">
            <a:spAutoFit/>
          </a:bodyPr>
          <a:lstStyle/>
          <a:p>
            <a:pPr algn="ctr">
              <a:lnSpc>
                <a:spcPct val="100000"/>
              </a:lnSpc>
            </a:pPr>
            <a:r>
              <a:rPr sz="1500" b="1" i="0">
                <a:solidFill>
                  <a:srgbClr val="FFFFFF"/>
                </a:solidFill>
                <a:latin typeface="Calibri"/>
              </a:rPr>
              <a:t>3</a:t>
            </a:r>
          </a:p>
        </p:txBody>
      </p:sp>
      <p:sp>
        <p:nvSpPr>
          <p:cNvPr id="4" name="TextBox 3"/>
          <p:cNvSpPr txBox="1"/>
          <p:nvPr/>
        </p:nvSpPr>
        <p:spPr>
          <a:xfrm>
            <a:off x="1307592" y="402336"/>
            <a:ext cx="10198303" cy="566928"/>
          </a:xfrm>
          <a:prstGeom prst="rect">
            <a:avLst/>
          </a:prstGeom>
          <a:noFill/>
        </p:spPr>
        <p:txBody>
          <a:bodyPr wrap="square" anchor="ctr" lIns="0" rIns="0" tIns="0" bIns="0">
            <a:spAutoFit/>
          </a:bodyPr>
          <a:lstStyle/>
          <a:p>
            <a:pPr algn="l">
              <a:lnSpc>
                <a:spcPct val="100000"/>
              </a:lnSpc>
            </a:pPr>
            <a:r>
              <a:rPr sz="3000" b="1" i="0">
                <a:solidFill>
                  <a:srgbClr val="2E211E"/>
                </a:solidFill>
                <a:latin typeface="Cambria"/>
              </a:rPr>
              <a:t>The dataset</a:t>
            </a:r>
          </a:p>
        </p:txBody>
      </p:sp>
      <p:sp>
        <p:nvSpPr>
          <p:cNvPr id="5" name="TextBox 4"/>
          <p:cNvSpPr txBox="1"/>
          <p:nvPr/>
        </p:nvSpPr>
        <p:spPr>
          <a:xfrm>
            <a:off x="685800" y="1298448"/>
            <a:ext cx="10820095" cy="365760"/>
          </a:xfrm>
          <a:prstGeom prst="rect">
            <a:avLst/>
          </a:prstGeom>
          <a:noFill/>
        </p:spPr>
        <p:txBody>
          <a:bodyPr wrap="square" anchor="t" lIns="0" rIns="0" tIns="0" bIns="0">
            <a:spAutoFit/>
          </a:bodyPr>
          <a:lstStyle/>
          <a:p>
            <a:pPr algn="l">
              <a:lnSpc>
                <a:spcPct val="100000"/>
              </a:lnSpc>
            </a:pPr>
            <a:r>
              <a:rPr sz="1500" b="0" i="0">
                <a:solidFill>
                  <a:srgbClr val="7A6A66"/>
                </a:solidFill>
                <a:latin typeface="Calibri"/>
              </a:rPr>
              <a:t>Zomato Bangalore Restaurants (Kaggle) — 51,717 rows × 17 columns, 548 MB</a:t>
            </a:r>
          </a:p>
        </p:txBody>
      </p:sp>
      <p:sp>
        <p:nvSpPr>
          <p:cNvPr id="6" name="Rounded Rectangle 5"/>
          <p:cNvSpPr/>
          <p:nvPr/>
        </p:nvSpPr>
        <p:spPr>
          <a:xfrm>
            <a:off x="685800" y="1828800"/>
            <a:ext cx="3493008" cy="1920240"/>
          </a:xfrm>
          <a:prstGeom prst="roundRect">
            <a:avLst>
              <a:gd name="adj" fmla="val 6000"/>
            </a:avLst>
          </a:prstGeom>
          <a:solidFill>
            <a:srgbClr val="FFFFFF"/>
          </a:solidFill>
          <a:ln w="12700">
            <a:solidFill>
              <a:srgbClr val="E7E8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23544" y="2011680"/>
            <a:ext cx="3017520" cy="402336"/>
          </a:xfrm>
          <a:prstGeom prst="rect">
            <a:avLst/>
          </a:prstGeom>
          <a:noFill/>
        </p:spPr>
        <p:txBody>
          <a:bodyPr wrap="square" anchor="t" lIns="0" rIns="0" tIns="0" bIns="0">
            <a:spAutoFit/>
          </a:bodyPr>
          <a:lstStyle/>
          <a:p>
            <a:pPr algn="l">
              <a:lnSpc>
                <a:spcPct val="100000"/>
              </a:lnSpc>
            </a:pPr>
            <a:r>
              <a:rPr sz="1700" b="1" i="0">
                <a:solidFill>
                  <a:srgbClr val="B85042"/>
                </a:solidFill>
                <a:latin typeface="Cambria"/>
              </a:rPr>
              <a:t>rate</a:t>
            </a:r>
          </a:p>
        </p:txBody>
      </p:sp>
      <p:sp>
        <p:nvSpPr>
          <p:cNvPr id="8" name="TextBox 7"/>
          <p:cNvSpPr txBox="1"/>
          <p:nvPr/>
        </p:nvSpPr>
        <p:spPr>
          <a:xfrm>
            <a:off x="923544" y="2487168"/>
            <a:ext cx="3017520" cy="1060704"/>
          </a:xfrm>
          <a:prstGeom prst="rect">
            <a:avLst/>
          </a:prstGeom>
          <a:noFill/>
        </p:spPr>
        <p:txBody>
          <a:bodyPr wrap="square" anchor="t" lIns="0" rIns="0" tIns="0" bIns="0">
            <a:spAutoFit/>
          </a:bodyPr>
          <a:lstStyle/>
          <a:p>
            <a:pPr algn="l">
              <a:lnSpc>
                <a:spcPct val="120000"/>
              </a:lnSpc>
            </a:pPr>
            <a:r>
              <a:rPr sz="1350" b="0" i="0">
                <a:solidFill>
                  <a:srgbClr val="2E211E"/>
                </a:solidFill>
                <a:latin typeface="Calibri"/>
              </a:rPr>
              <a:t>Restaurant level.</a:t>
            </a:r>
          </a:p>
          <a:p>
            <a:pPr algn="l">
              <a:lnSpc>
                <a:spcPct val="120000"/>
              </a:lnSpc>
            </a:pPr>
            <a:r>
              <a:rPr sz="1350" b="0" i="0">
                <a:solidFill>
                  <a:srgbClr val="2E211E"/>
                </a:solidFill>
                <a:latin typeface="Calibri"/>
              </a:rPr>
              <a:t>Zomato's displayed average, e.g. 4.1/5.</a:t>
            </a:r>
          </a:p>
        </p:txBody>
      </p:sp>
      <p:sp>
        <p:nvSpPr>
          <p:cNvPr id="9" name="Rounded Rectangle 8"/>
          <p:cNvSpPr/>
          <p:nvPr/>
        </p:nvSpPr>
        <p:spPr>
          <a:xfrm>
            <a:off x="4315968" y="1828800"/>
            <a:ext cx="3493008" cy="1920240"/>
          </a:xfrm>
          <a:prstGeom prst="roundRect">
            <a:avLst>
              <a:gd name="adj" fmla="val 6000"/>
            </a:avLst>
          </a:prstGeom>
          <a:solidFill>
            <a:srgbClr val="FFFFFF"/>
          </a:solidFill>
          <a:ln w="12700">
            <a:solidFill>
              <a:srgbClr val="E7E8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553712" y="2011680"/>
            <a:ext cx="3017520" cy="402336"/>
          </a:xfrm>
          <a:prstGeom prst="rect">
            <a:avLst/>
          </a:prstGeom>
          <a:noFill/>
        </p:spPr>
        <p:txBody>
          <a:bodyPr wrap="square" anchor="t" lIns="0" rIns="0" tIns="0" bIns="0">
            <a:spAutoFit/>
          </a:bodyPr>
          <a:lstStyle/>
          <a:p>
            <a:pPr algn="l">
              <a:lnSpc>
                <a:spcPct val="100000"/>
              </a:lnSpc>
            </a:pPr>
            <a:r>
              <a:rPr sz="1700" b="1" i="0">
                <a:solidFill>
                  <a:srgbClr val="B85042"/>
                </a:solidFill>
                <a:latin typeface="Cambria"/>
              </a:rPr>
              <a:t>votes</a:t>
            </a:r>
          </a:p>
        </p:txBody>
      </p:sp>
      <p:sp>
        <p:nvSpPr>
          <p:cNvPr id="11" name="TextBox 10"/>
          <p:cNvSpPr txBox="1"/>
          <p:nvPr/>
        </p:nvSpPr>
        <p:spPr>
          <a:xfrm>
            <a:off x="4553712" y="2487168"/>
            <a:ext cx="3017520" cy="1060704"/>
          </a:xfrm>
          <a:prstGeom prst="rect">
            <a:avLst/>
          </a:prstGeom>
          <a:noFill/>
        </p:spPr>
        <p:txBody>
          <a:bodyPr wrap="square" anchor="t" lIns="0" rIns="0" tIns="0" bIns="0">
            <a:spAutoFit/>
          </a:bodyPr>
          <a:lstStyle/>
          <a:p>
            <a:pPr algn="l">
              <a:lnSpc>
                <a:spcPct val="120000"/>
              </a:lnSpc>
            </a:pPr>
            <a:r>
              <a:rPr sz="1350" b="0" i="0">
                <a:solidFill>
                  <a:srgbClr val="2E211E"/>
                </a:solidFill>
                <a:latin typeface="Calibri"/>
              </a:rPr>
              <a:t>Restaurant level.</a:t>
            </a:r>
          </a:p>
          <a:p>
            <a:pPr algn="l">
              <a:lnSpc>
                <a:spcPct val="120000"/>
              </a:lnSpc>
            </a:pPr>
            <a:r>
              <a:rPr sz="1350" b="0" i="0">
                <a:solidFill>
                  <a:srgbClr val="2E211E"/>
                </a:solidFill>
                <a:latin typeface="Calibri"/>
              </a:rPr>
              <a:t>How many people rated it at all.</a:t>
            </a:r>
          </a:p>
        </p:txBody>
      </p:sp>
      <p:sp>
        <p:nvSpPr>
          <p:cNvPr id="12" name="Rounded Rectangle 11"/>
          <p:cNvSpPr/>
          <p:nvPr/>
        </p:nvSpPr>
        <p:spPr>
          <a:xfrm>
            <a:off x="7882127" y="1828800"/>
            <a:ext cx="3621024" cy="1920240"/>
          </a:xfrm>
          <a:prstGeom prst="roundRect">
            <a:avLst>
              <a:gd name="adj" fmla="val 6000"/>
            </a:avLst>
          </a:prstGeom>
          <a:solidFill>
            <a:srgbClr val="FFFFFF"/>
          </a:solidFill>
          <a:ln w="12700">
            <a:solidFill>
              <a:srgbClr val="E7E8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19871" y="2011680"/>
            <a:ext cx="3145536" cy="402336"/>
          </a:xfrm>
          <a:prstGeom prst="rect">
            <a:avLst/>
          </a:prstGeom>
          <a:noFill/>
        </p:spPr>
        <p:txBody>
          <a:bodyPr wrap="square" anchor="t" lIns="0" rIns="0" tIns="0" bIns="0">
            <a:spAutoFit/>
          </a:bodyPr>
          <a:lstStyle/>
          <a:p>
            <a:pPr algn="l">
              <a:lnSpc>
                <a:spcPct val="100000"/>
              </a:lnSpc>
            </a:pPr>
            <a:r>
              <a:rPr sz="1700" b="1" i="0">
                <a:solidFill>
                  <a:srgbClr val="2F7D54"/>
                </a:solidFill>
                <a:latin typeface="Cambria"/>
              </a:rPr>
              <a:t>reviews_list</a:t>
            </a:r>
          </a:p>
        </p:txBody>
      </p:sp>
      <p:sp>
        <p:nvSpPr>
          <p:cNvPr id="14" name="TextBox 13"/>
          <p:cNvSpPr txBox="1"/>
          <p:nvPr/>
        </p:nvSpPr>
        <p:spPr>
          <a:xfrm>
            <a:off x="8119871" y="2487168"/>
            <a:ext cx="3145536" cy="1060704"/>
          </a:xfrm>
          <a:prstGeom prst="rect">
            <a:avLst/>
          </a:prstGeom>
          <a:noFill/>
        </p:spPr>
        <p:txBody>
          <a:bodyPr wrap="square" anchor="t" lIns="0" rIns="0" tIns="0" bIns="0">
            <a:spAutoFit/>
          </a:bodyPr>
          <a:lstStyle/>
          <a:p>
            <a:pPr algn="l">
              <a:lnSpc>
                <a:spcPct val="120000"/>
              </a:lnSpc>
            </a:pPr>
            <a:r>
              <a:rPr sz="1350" b="0" i="0">
                <a:solidFill>
                  <a:srgbClr val="2E211E"/>
                </a:solidFill>
                <a:latin typeface="Calibri"/>
              </a:rPr>
              <a:t>The only field with text.</a:t>
            </a:r>
          </a:p>
          <a:p>
            <a:pPr algn="l">
              <a:lnSpc>
                <a:spcPct val="120000"/>
              </a:lnSpc>
            </a:pPr>
            <a:r>
              <a:rPr sz="1350" b="0" i="0">
                <a:solidFill>
                  <a:srgbClr val="2E211E"/>
                </a:solidFill>
                <a:latin typeface="Calibri"/>
              </a:rPr>
              <a:t>Each entry carries its own star rating.</a:t>
            </a:r>
          </a:p>
        </p:txBody>
      </p:sp>
      <p:sp>
        <p:nvSpPr>
          <p:cNvPr id="15" name="TextBox 14"/>
          <p:cNvSpPr txBox="1"/>
          <p:nvPr/>
        </p:nvSpPr>
        <p:spPr>
          <a:xfrm>
            <a:off x="685800" y="4041648"/>
            <a:ext cx="10820095" cy="347472"/>
          </a:xfrm>
          <a:prstGeom prst="rect">
            <a:avLst/>
          </a:prstGeom>
          <a:noFill/>
        </p:spPr>
        <p:txBody>
          <a:bodyPr wrap="square" anchor="t" lIns="0" rIns="0" tIns="0" bIns="0">
            <a:spAutoFit/>
          </a:bodyPr>
          <a:lstStyle/>
          <a:p>
            <a:pPr algn="l">
              <a:lnSpc>
                <a:spcPct val="100000"/>
              </a:lnSpc>
            </a:pPr>
            <a:r>
              <a:rPr sz="1800" b="1" i="0">
                <a:solidFill>
                  <a:srgbClr val="2E211E"/>
                </a:solidFill>
                <a:latin typeface="Cambria"/>
              </a:rPr>
              <a:t>These are not interchangeable — we verified it</a:t>
            </a:r>
          </a:p>
        </p:txBody>
      </p:sp>
      <p:sp>
        <p:nvSpPr>
          <p:cNvPr id="16" name="TextBox 15"/>
          <p:cNvSpPr txBox="1"/>
          <p:nvPr/>
        </p:nvSpPr>
        <p:spPr>
          <a:xfrm>
            <a:off x="685800" y="4480560"/>
            <a:ext cx="10820095" cy="1463040"/>
          </a:xfrm>
          <a:prstGeom prst="rect">
            <a:avLst/>
          </a:prstGeom>
          <a:noFill/>
        </p:spPr>
        <p:txBody>
          <a:bodyPr wrap="square" anchor="t" lIns="0" rIns="0" tIns="0" bIns="0">
            <a:spAutoFit/>
          </a:bodyPr>
          <a:lstStyle/>
          <a:p>
            <a:pPr algn="l">
              <a:lnSpc>
                <a:spcPct val="114000"/>
              </a:lnSpc>
              <a:spcAft>
                <a:spcPts val="900"/>
              </a:spcAft>
            </a:pPr>
            <a:r>
              <a:rPr sz="1350" b="0" i="0">
                <a:solidFill>
                  <a:srgbClr val="2E211E"/>
                </a:solidFill>
                <a:latin typeface="Calibri"/>
              </a:rPr>
              <a:t>•  rate differs from the mean of its own reviews by 0.55 stars on average; only 6.7% agree within 0.05</a:t>
            </a:r>
          </a:p>
          <a:p>
            <a:pPr algn="l">
              <a:lnSpc>
                <a:spcPct val="114000"/>
              </a:lnSpc>
              <a:spcAft>
                <a:spcPts val="900"/>
              </a:spcAft>
            </a:pPr>
            <a:r>
              <a:rPr sz="1350" b="0" i="0">
                <a:solidFill>
                  <a:srgbClr val="2E211E"/>
                </a:solidFill>
                <a:latin typeface="Calibri"/>
              </a:rPr>
              <a:t>•  votes exceeds the review count in 87.9% of rows, median ratio 11× — text reviews are only ~6% of all ratings</a:t>
            </a:r>
          </a:p>
          <a:p>
            <a:pPr algn="l">
              <a:lnSpc>
                <a:spcPct val="114000"/>
              </a:lnSpc>
              <a:spcAft>
                <a:spcPts val="900"/>
              </a:spcAft>
            </a:pPr>
            <a:r>
              <a:rPr sz="1350" b="0" i="0">
                <a:solidFill>
                  <a:srgbClr val="2E211E"/>
                </a:solidFill>
                <a:latin typeface="Calibri"/>
              </a:rPr>
              <a:t>•  Never train on rate: it is an average, so a 1-star review at a 4.5-star restaurant would be labelled positive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E211E"/>
        </a:solidFill>
        <a:effectLst/>
      </p:bgPr>
    </p:bg>
    <p:spTree>
      <p:nvGrpSpPr>
        <p:cNvPr id="1" name=""/>
        <p:cNvGrpSpPr/>
        <p:nvPr/>
      </p:nvGrpSpPr>
      <p:grpSpPr/>
      <p:sp>
        <p:nvSpPr>
          <p:cNvPr id="2" name="TextBox 1"/>
          <p:cNvSpPr txBox="1"/>
          <p:nvPr/>
        </p:nvSpPr>
        <p:spPr>
          <a:xfrm>
            <a:off x="685800" y="1188720"/>
            <a:ext cx="10820095" cy="320040"/>
          </a:xfrm>
          <a:prstGeom prst="rect">
            <a:avLst/>
          </a:prstGeom>
          <a:noFill/>
        </p:spPr>
        <p:txBody>
          <a:bodyPr wrap="square" anchor="t" lIns="0" rIns="0" tIns="0" bIns="0">
            <a:spAutoFit/>
          </a:bodyPr>
          <a:lstStyle/>
          <a:p>
            <a:pPr algn="l">
              <a:lnSpc>
                <a:spcPct val="100000"/>
              </a:lnSpc>
            </a:pPr>
            <a:r>
              <a:rPr sz="1300" b="1" i="0">
                <a:solidFill>
                  <a:srgbClr val="A7BEAE"/>
                </a:solidFill>
                <a:latin typeface="Calibri"/>
              </a:rPr>
              <a:t>THE BIGGEST SOURCE OF NOISE</a:t>
            </a:r>
          </a:p>
        </p:txBody>
      </p:sp>
      <p:sp>
        <p:nvSpPr>
          <p:cNvPr id="3" name="TextBox 2"/>
          <p:cNvSpPr txBox="1"/>
          <p:nvPr/>
        </p:nvSpPr>
        <p:spPr>
          <a:xfrm>
            <a:off x="685800" y="1600200"/>
            <a:ext cx="5669280" cy="1645920"/>
          </a:xfrm>
          <a:prstGeom prst="rect">
            <a:avLst/>
          </a:prstGeom>
          <a:noFill/>
        </p:spPr>
        <p:txBody>
          <a:bodyPr wrap="square" anchor="t" lIns="0" rIns="0" tIns="0" bIns="0">
            <a:spAutoFit/>
          </a:bodyPr>
          <a:lstStyle/>
          <a:p>
            <a:pPr algn="l">
              <a:lnSpc>
                <a:spcPct val="100000"/>
              </a:lnSpc>
            </a:pPr>
            <a:r>
              <a:rPr sz="9200" b="1" i="0">
                <a:solidFill>
                  <a:srgbClr val="B85042"/>
                </a:solidFill>
                <a:latin typeface="Cambria"/>
              </a:rPr>
              <a:t>89.1%</a:t>
            </a:r>
          </a:p>
        </p:txBody>
      </p:sp>
      <p:sp>
        <p:nvSpPr>
          <p:cNvPr id="4" name="TextBox 3"/>
          <p:cNvSpPr txBox="1"/>
          <p:nvPr/>
        </p:nvSpPr>
        <p:spPr>
          <a:xfrm>
            <a:off x="685800" y="3246120"/>
            <a:ext cx="5852160" cy="548640"/>
          </a:xfrm>
          <a:prstGeom prst="rect">
            <a:avLst/>
          </a:prstGeom>
          <a:noFill/>
        </p:spPr>
        <p:txBody>
          <a:bodyPr wrap="square" anchor="t" lIns="0" rIns="0" tIns="0" bIns="0">
            <a:spAutoFit/>
          </a:bodyPr>
          <a:lstStyle/>
          <a:p>
            <a:pPr algn="l">
              <a:lnSpc>
                <a:spcPct val="100000"/>
              </a:lnSpc>
            </a:pPr>
            <a:r>
              <a:rPr sz="2600" b="0" i="0">
                <a:solidFill>
                  <a:srgbClr val="FFFFFF"/>
                </a:solidFill>
                <a:latin typeface="Cambria"/>
              </a:rPr>
              <a:t>of the corpus is duplicated</a:t>
            </a:r>
          </a:p>
        </p:txBody>
      </p:sp>
      <p:sp>
        <p:nvSpPr>
          <p:cNvPr id="5" name="TextBox 4"/>
          <p:cNvSpPr txBox="1"/>
          <p:nvPr/>
        </p:nvSpPr>
        <p:spPr>
          <a:xfrm>
            <a:off x="685800" y="3931920"/>
            <a:ext cx="5852160" cy="1920240"/>
          </a:xfrm>
          <a:prstGeom prst="rect">
            <a:avLst/>
          </a:prstGeom>
          <a:noFill/>
        </p:spPr>
        <p:txBody>
          <a:bodyPr wrap="square" anchor="t" lIns="0" rIns="0" tIns="0" bIns="0">
            <a:spAutoFit/>
          </a:bodyPr>
          <a:lstStyle/>
          <a:p>
            <a:pPr algn="l">
              <a:lnSpc>
                <a:spcPct val="125000"/>
              </a:lnSpc>
              <a:spcAft>
                <a:spcPts val="1000"/>
              </a:spcAft>
            </a:pPr>
            <a:r>
              <a:rPr sz="1450" b="0" i="0">
                <a:solidFill>
                  <a:srgbClr val="E7E8D1"/>
                </a:solidFill>
                <a:latin typeface="Calibri"/>
              </a:rPr>
              <a:t>1,317,782 review entries collapse to 143,789 unique texts.</a:t>
            </a:r>
          </a:p>
          <a:p>
            <a:pPr algn="l">
              <a:lnSpc>
                <a:spcPct val="125000"/>
              </a:lnSpc>
              <a:spcAft>
                <a:spcPts val="1000"/>
              </a:spcAft>
            </a:pPr>
            <a:r>
              <a:rPr sz="1450" b="0" i="0">
                <a:solidFill>
                  <a:srgbClr val="E7E8D1"/>
                </a:solidFill>
                <a:latin typeface="Calibri"/>
              </a:rPr>
              <a:t>Left in, every dish mention count is inflated roughly 9×. Because the inflation is not uniform across restaurants, it does not cancel out — it reorders the rankings.</a:t>
            </a:r>
          </a:p>
        </p:txBody>
      </p:sp>
      <p:sp>
        <p:nvSpPr>
          <p:cNvPr id="6" name="Rounded Rectangle 5"/>
          <p:cNvSpPr/>
          <p:nvPr/>
        </p:nvSpPr>
        <p:spPr>
          <a:xfrm>
            <a:off x="6949440" y="1645920"/>
            <a:ext cx="4553712" cy="3977639"/>
          </a:xfrm>
          <a:prstGeom prst="roundRect">
            <a:avLst>
              <a:gd name="adj" fmla="val 6000"/>
            </a:avLst>
          </a:prstGeom>
          <a:solidFill>
            <a:srgbClr val="3B2B27"/>
          </a:solidFill>
          <a:ln w="12700">
            <a:solidFill>
              <a:srgbClr val="4A38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223760" y="1920240"/>
            <a:ext cx="4005072" cy="868680"/>
          </a:xfrm>
          <a:prstGeom prst="rect">
            <a:avLst/>
          </a:prstGeom>
          <a:noFill/>
        </p:spPr>
        <p:txBody>
          <a:bodyPr wrap="square" anchor="t" lIns="0" rIns="0" tIns="0" bIns="0">
            <a:spAutoFit/>
          </a:bodyPr>
          <a:lstStyle/>
          <a:p>
            <a:pPr algn="l">
              <a:lnSpc>
                <a:spcPct val="115000"/>
              </a:lnSpc>
            </a:pPr>
            <a:r>
              <a:rPr sz="1700" b="1" i="0">
                <a:solidFill>
                  <a:srgbClr val="FFFFFF"/>
                </a:solidFill>
                <a:latin typeface="Cambria"/>
              </a:rPr>
              <a:t>Deduplication removes 99.2% of every row this pipeline removes.</a:t>
            </a:r>
          </a:p>
        </p:txBody>
      </p:sp>
      <p:sp>
        <p:nvSpPr>
          <p:cNvPr id="8" name="TextBox 7"/>
          <p:cNvSpPr txBox="1"/>
          <p:nvPr/>
        </p:nvSpPr>
        <p:spPr>
          <a:xfrm>
            <a:off x="7223760" y="2926080"/>
            <a:ext cx="4005072" cy="2377440"/>
          </a:xfrm>
          <a:prstGeom prst="rect">
            <a:avLst/>
          </a:prstGeom>
          <a:noFill/>
        </p:spPr>
        <p:txBody>
          <a:bodyPr wrap="square" anchor="t" lIns="0" rIns="0" tIns="0" bIns="0">
            <a:spAutoFit/>
          </a:bodyPr>
          <a:lstStyle/>
          <a:p>
            <a:pPr algn="l">
              <a:lnSpc>
                <a:spcPct val="125000"/>
              </a:lnSpc>
              <a:spcAft>
                <a:spcPts val="1000"/>
              </a:spcAft>
            </a:pPr>
            <a:r>
              <a:rPr sz="1400" b="0" i="0">
                <a:solidFill>
                  <a:srgbClr val="E7E8D1"/>
                </a:solidFill>
                <a:latin typeface="Calibri"/>
              </a:rPr>
              <a:t>All eight other cleaning stages combined account for 9,177 rows — less than 1% of what deduplication alone catches.</a:t>
            </a:r>
          </a:p>
          <a:p>
            <a:pPr algn="l">
              <a:lnSpc>
                <a:spcPct val="125000"/>
              </a:lnSpc>
              <a:spcAft>
                <a:spcPts val="1000"/>
              </a:spcAft>
            </a:pPr>
            <a:r>
              <a:rPr sz="1400" b="0" i="0">
                <a:solidFill>
                  <a:srgbClr val="E7E8D1"/>
                </a:solidFill>
                <a:latin typeface="Calibri"/>
              </a:rPr>
              <a:t>The boring stage matters enormously. The sophisticated ones matter marginally.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Oval 1"/>
          <p:cNvSpPr/>
          <p:nvPr/>
        </p:nvSpPr>
        <p:spPr>
          <a:xfrm>
            <a:off x="685800" y="475488"/>
            <a:ext cx="420624" cy="42062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420624" cy="420624"/>
          </a:xfrm>
          <a:prstGeom prst="rect">
            <a:avLst/>
          </a:prstGeom>
          <a:noFill/>
        </p:spPr>
        <p:txBody>
          <a:bodyPr wrap="square" anchor="ctr" lIns="0" rIns="0" tIns="0" bIns="0">
            <a:spAutoFit/>
          </a:bodyPr>
          <a:lstStyle/>
          <a:p>
            <a:pPr algn="ctr">
              <a:lnSpc>
                <a:spcPct val="100000"/>
              </a:lnSpc>
            </a:pPr>
            <a:r>
              <a:rPr sz="1500" b="1" i="0">
                <a:solidFill>
                  <a:srgbClr val="FFFFFF"/>
                </a:solidFill>
                <a:latin typeface="Calibri"/>
              </a:rPr>
              <a:t>4</a:t>
            </a:r>
          </a:p>
        </p:txBody>
      </p:sp>
      <p:sp>
        <p:nvSpPr>
          <p:cNvPr id="4" name="TextBox 3"/>
          <p:cNvSpPr txBox="1"/>
          <p:nvPr/>
        </p:nvSpPr>
        <p:spPr>
          <a:xfrm>
            <a:off x="1307592" y="402336"/>
            <a:ext cx="10198303" cy="566928"/>
          </a:xfrm>
          <a:prstGeom prst="rect">
            <a:avLst/>
          </a:prstGeom>
          <a:noFill/>
        </p:spPr>
        <p:txBody>
          <a:bodyPr wrap="square" anchor="ctr" lIns="0" rIns="0" tIns="0" bIns="0">
            <a:spAutoFit/>
          </a:bodyPr>
          <a:lstStyle/>
          <a:p>
            <a:pPr algn="l">
              <a:lnSpc>
                <a:spcPct val="100000"/>
              </a:lnSpc>
            </a:pPr>
            <a:r>
              <a:rPr sz="3000" b="1" i="0">
                <a:solidFill>
                  <a:srgbClr val="2E211E"/>
                </a:solidFill>
                <a:latin typeface="Cambria"/>
              </a:rPr>
              <a:t>Two traps in deduplicating this data</a:t>
            </a:r>
          </a:p>
        </p:txBody>
      </p:sp>
      <p:sp>
        <p:nvSpPr>
          <p:cNvPr id="5" name="Rounded Rectangle 4"/>
          <p:cNvSpPr/>
          <p:nvPr/>
        </p:nvSpPr>
        <p:spPr>
          <a:xfrm>
            <a:off x="685800" y="1371600"/>
            <a:ext cx="5486400" cy="2194560"/>
          </a:xfrm>
          <a:prstGeom prst="roundRect">
            <a:avLst>
              <a:gd name="adj" fmla="val 6000"/>
            </a:avLst>
          </a:prstGeom>
          <a:solidFill>
            <a:srgbClr val="FFFFFF"/>
          </a:solidFill>
          <a:ln w="12700">
            <a:solidFill>
              <a:srgbClr val="E7E8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23544" y="1554480"/>
            <a:ext cx="5010912" cy="402336"/>
          </a:xfrm>
          <a:prstGeom prst="rect">
            <a:avLst/>
          </a:prstGeom>
          <a:noFill/>
        </p:spPr>
        <p:txBody>
          <a:bodyPr wrap="square" anchor="t" lIns="0" rIns="0" tIns="0" bIns="0">
            <a:spAutoFit/>
          </a:bodyPr>
          <a:lstStyle/>
          <a:p>
            <a:pPr algn="l">
              <a:lnSpc>
                <a:spcPct val="100000"/>
              </a:lnSpc>
            </a:pPr>
            <a:r>
              <a:rPr sz="1700" b="1" i="0">
                <a:solidFill>
                  <a:srgbClr val="B85042"/>
                </a:solidFill>
                <a:latin typeface="Cambria"/>
              </a:rPr>
              <a:t>Trap 1 — the obvious key fails silently</a:t>
            </a:r>
          </a:p>
        </p:txBody>
      </p:sp>
      <p:sp>
        <p:nvSpPr>
          <p:cNvPr id="7" name="TextBox 6"/>
          <p:cNvSpPr txBox="1"/>
          <p:nvPr/>
        </p:nvSpPr>
        <p:spPr>
          <a:xfrm>
            <a:off x="923544" y="2029967"/>
            <a:ext cx="5010912" cy="1335024"/>
          </a:xfrm>
          <a:prstGeom prst="rect">
            <a:avLst/>
          </a:prstGeom>
          <a:noFill/>
        </p:spPr>
        <p:txBody>
          <a:bodyPr wrap="square" anchor="t" lIns="0" rIns="0" tIns="0" bIns="0">
            <a:spAutoFit/>
          </a:bodyPr>
          <a:lstStyle/>
          <a:p>
            <a:pPr algn="l">
              <a:lnSpc>
                <a:spcPct val="120000"/>
              </a:lnSpc>
            </a:pPr>
            <a:r>
              <a:rPr sz="1350" b="0" i="0">
                <a:solidFill>
                  <a:srgbClr val="2E211E"/>
                </a:solidFill>
                <a:latin typeface="Calibri"/>
              </a:rPr>
              <a:t>All 51,717 url values are unique, so deduplicating on url removes nothing and reports success.</a:t>
            </a:r>
          </a:p>
          <a:p>
            <a:pPr algn="l">
              <a:lnSpc>
                <a:spcPct val="120000"/>
              </a:lnSpc>
            </a:pPr>
            <a:r>
              <a:rPr sz="1350" b="0" i="0">
                <a:solidFill>
                  <a:srgbClr val="2E211E"/>
                </a:solidFill>
                <a:latin typeface="Calibri"/>
              </a:rPr>
              <a:t>Zomato appends a ?context= query string encoding the category listing.</a:t>
            </a:r>
          </a:p>
        </p:txBody>
      </p:sp>
      <p:sp>
        <p:nvSpPr>
          <p:cNvPr id="8" name="Rounded Rectangle 7"/>
          <p:cNvSpPr/>
          <p:nvPr/>
        </p:nvSpPr>
        <p:spPr>
          <a:xfrm>
            <a:off x="6492240" y="1371600"/>
            <a:ext cx="5010912" cy="2194560"/>
          </a:xfrm>
          <a:prstGeom prst="roundRect">
            <a:avLst>
              <a:gd name="adj" fmla="val 6000"/>
            </a:avLst>
          </a:prstGeom>
          <a:solidFill>
            <a:srgbClr val="FFFFFF"/>
          </a:solidFill>
          <a:ln w="12700">
            <a:solidFill>
              <a:srgbClr val="E7E8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729983" y="1554480"/>
            <a:ext cx="4535424" cy="402336"/>
          </a:xfrm>
          <a:prstGeom prst="rect">
            <a:avLst/>
          </a:prstGeom>
          <a:noFill/>
        </p:spPr>
        <p:txBody>
          <a:bodyPr wrap="square" anchor="t" lIns="0" rIns="0" tIns="0" bIns="0">
            <a:spAutoFit/>
          </a:bodyPr>
          <a:lstStyle/>
          <a:p>
            <a:pPr algn="l">
              <a:lnSpc>
                <a:spcPct val="100000"/>
              </a:lnSpc>
            </a:pPr>
            <a:r>
              <a:rPr sz="1700" b="1" i="0">
                <a:solidFill>
                  <a:srgbClr val="B85042"/>
                </a:solidFill>
                <a:latin typeface="Cambria"/>
              </a:rPr>
              <a:t>Trap 2 — the obvious fix loses data</a:t>
            </a:r>
          </a:p>
        </p:txBody>
      </p:sp>
      <p:sp>
        <p:nvSpPr>
          <p:cNvPr id="10" name="TextBox 9"/>
          <p:cNvSpPr txBox="1"/>
          <p:nvPr/>
        </p:nvSpPr>
        <p:spPr>
          <a:xfrm>
            <a:off x="6729983" y="2029967"/>
            <a:ext cx="4535424" cy="1335024"/>
          </a:xfrm>
          <a:prstGeom prst="rect">
            <a:avLst/>
          </a:prstGeom>
          <a:noFill/>
        </p:spPr>
        <p:txBody>
          <a:bodyPr wrap="square" anchor="t" lIns="0" rIns="0" tIns="0" bIns="0">
            <a:spAutoFit/>
          </a:bodyPr>
          <a:lstStyle/>
          <a:p>
            <a:pPr algn="l">
              <a:lnSpc>
                <a:spcPct val="120000"/>
              </a:lnSpc>
            </a:pPr>
            <a:r>
              <a:rPr sz="1350" b="0" i="0">
                <a:solidFill>
                  <a:srgbClr val="2E211E"/>
                </a:solidFill>
                <a:latin typeface="Calibri"/>
              </a:rPr>
              <a:t>Deduplicating on (name, address) and keeping one row per restaurant drops 32,803 real reviews.</a:t>
            </a:r>
          </a:p>
          <a:p>
            <a:pPr algn="l">
              <a:lnSpc>
                <a:spcPct val="120000"/>
              </a:lnSpc>
            </a:pPr>
            <a:r>
              <a:rPr sz="1350" b="0" i="0">
                <a:solidFill>
                  <a:srgbClr val="2E211E"/>
                </a:solidFill>
                <a:latin typeface="Calibri"/>
              </a:rPr>
              <a:t>Category listings hold partially different review sets, not copies.</a:t>
            </a:r>
          </a:p>
        </p:txBody>
      </p:sp>
      <p:sp>
        <p:nvSpPr>
          <p:cNvPr id="11" name="Rounded Rectangle 10"/>
          <p:cNvSpPr/>
          <p:nvPr/>
        </p:nvSpPr>
        <p:spPr>
          <a:xfrm>
            <a:off x="685800" y="3840480"/>
            <a:ext cx="10820095" cy="2011680"/>
          </a:xfrm>
          <a:prstGeom prst="roundRect">
            <a:avLst>
              <a:gd name="adj" fmla="val 6000"/>
            </a:avLst>
          </a:prstGeom>
          <a:solidFill>
            <a:srgbClr val="EDF3EF"/>
          </a:solidFill>
          <a:ln w="25400">
            <a:solidFill>
              <a:srgbClr val="2F7D5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78408" y="4069080"/>
            <a:ext cx="10234879" cy="365760"/>
          </a:xfrm>
          <a:prstGeom prst="rect">
            <a:avLst/>
          </a:prstGeom>
          <a:noFill/>
        </p:spPr>
        <p:txBody>
          <a:bodyPr wrap="square" anchor="t" lIns="0" rIns="0" tIns="0" bIns="0">
            <a:spAutoFit/>
          </a:bodyPr>
          <a:lstStyle/>
          <a:p>
            <a:pPr algn="l">
              <a:lnSpc>
                <a:spcPct val="100000"/>
              </a:lnSpc>
            </a:pPr>
            <a:r>
              <a:rPr sz="1800" b="1" i="0">
                <a:solidFill>
                  <a:srgbClr val="1D4A33"/>
                </a:solidFill>
                <a:latin typeface="Cambria"/>
              </a:rPr>
              <a:t>The correct order</a:t>
            </a:r>
          </a:p>
        </p:txBody>
      </p:sp>
      <p:sp>
        <p:nvSpPr>
          <p:cNvPr id="13" name="TextBox 12"/>
          <p:cNvSpPr txBox="1"/>
          <p:nvPr/>
        </p:nvSpPr>
        <p:spPr>
          <a:xfrm>
            <a:off x="978408" y="4526280"/>
            <a:ext cx="10234879" cy="1097280"/>
          </a:xfrm>
          <a:prstGeom prst="rect">
            <a:avLst/>
          </a:prstGeom>
          <a:noFill/>
        </p:spPr>
        <p:txBody>
          <a:bodyPr wrap="square" anchor="t" lIns="0" rIns="0" tIns="0" bIns="0">
            <a:spAutoFit/>
          </a:bodyPr>
          <a:lstStyle/>
          <a:p>
            <a:pPr algn="l">
              <a:lnSpc>
                <a:spcPct val="130000"/>
              </a:lnSpc>
              <a:spcAft>
                <a:spcPts val="600"/>
              </a:spcAft>
            </a:pPr>
            <a:r>
              <a:rPr sz="1550" b="0" i="0">
                <a:solidFill>
                  <a:srgbClr val="1D4A33"/>
                </a:solidFill>
                <a:latin typeface="Calibri"/>
              </a:rPr>
              <a:t>Explode every row to review level first, then deduplicate on (restaurant, review_text).</a:t>
            </a:r>
          </a:p>
          <a:p>
            <a:pPr algn="l">
              <a:lnSpc>
                <a:spcPct val="130000"/>
              </a:lnSpc>
              <a:spcAft>
                <a:spcPts val="600"/>
              </a:spcAft>
            </a:pPr>
            <a:r>
              <a:rPr sz="1550" b="0" i="0">
                <a:solidFill>
                  <a:srgbClr val="1D4A33"/>
                </a:solidFill>
                <a:latin typeface="Calibri"/>
              </a:rPr>
              <a:t>Restaurant-level deduplication must never happen first.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Oval 1"/>
          <p:cNvSpPr/>
          <p:nvPr/>
        </p:nvSpPr>
        <p:spPr>
          <a:xfrm>
            <a:off x="685800" y="475488"/>
            <a:ext cx="420624" cy="42062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420624" cy="420624"/>
          </a:xfrm>
          <a:prstGeom prst="rect">
            <a:avLst/>
          </a:prstGeom>
          <a:noFill/>
        </p:spPr>
        <p:txBody>
          <a:bodyPr wrap="square" anchor="ctr" lIns="0" rIns="0" tIns="0" bIns="0">
            <a:spAutoFit/>
          </a:bodyPr>
          <a:lstStyle/>
          <a:p>
            <a:pPr algn="ctr">
              <a:lnSpc>
                <a:spcPct val="100000"/>
              </a:lnSpc>
            </a:pPr>
            <a:r>
              <a:rPr sz="1500" b="1" i="0">
                <a:solidFill>
                  <a:srgbClr val="FFFFFF"/>
                </a:solidFill>
                <a:latin typeface="Calibri"/>
              </a:rPr>
              <a:t>5</a:t>
            </a:r>
          </a:p>
        </p:txBody>
      </p:sp>
      <p:sp>
        <p:nvSpPr>
          <p:cNvPr id="4" name="TextBox 3"/>
          <p:cNvSpPr txBox="1"/>
          <p:nvPr/>
        </p:nvSpPr>
        <p:spPr>
          <a:xfrm>
            <a:off x="1307592" y="402336"/>
            <a:ext cx="10198303" cy="566928"/>
          </a:xfrm>
          <a:prstGeom prst="rect">
            <a:avLst/>
          </a:prstGeom>
          <a:noFill/>
        </p:spPr>
        <p:txBody>
          <a:bodyPr wrap="square" anchor="ctr" lIns="0" rIns="0" tIns="0" bIns="0">
            <a:spAutoFit/>
          </a:bodyPr>
          <a:lstStyle/>
          <a:p>
            <a:pPr algn="l">
              <a:lnSpc>
                <a:spcPct val="100000"/>
              </a:lnSpc>
            </a:pPr>
            <a:r>
              <a:rPr sz="3000" b="1" i="0">
                <a:solidFill>
                  <a:srgbClr val="2E211E"/>
                </a:solidFill>
                <a:latin typeface="Cambria"/>
              </a:rPr>
              <a:t>Where the data goes</a:t>
            </a:r>
          </a:p>
        </p:txBody>
      </p:sp>
      <p:sp>
        <p:nvSpPr>
          <p:cNvPr id="5" name="TextBox 4"/>
          <p:cNvSpPr txBox="1"/>
          <p:nvPr/>
        </p:nvSpPr>
        <p:spPr>
          <a:xfrm>
            <a:off x="685800" y="1298448"/>
            <a:ext cx="10820095" cy="320040"/>
          </a:xfrm>
          <a:prstGeom prst="rect">
            <a:avLst/>
          </a:prstGeom>
          <a:noFill/>
        </p:spPr>
        <p:txBody>
          <a:bodyPr wrap="square" anchor="t" lIns="0" rIns="0" tIns="0" bIns="0">
            <a:spAutoFit/>
          </a:bodyPr>
          <a:lstStyle/>
          <a:p>
            <a:pPr algn="l">
              <a:lnSpc>
                <a:spcPct val="100000"/>
              </a:lnSpc>
            </a:pPr>
            <a:r>
              <a:rPr sz="1400" b="0" i="0">
                <a:solidFill>
                  <a:srgbClr val="7A6A66"/>
                </a:solidFill>
                <a:latin typeface="Calibri"/>
              </a:rPr>
              <a:t>Rows removed at each cleaning stage, from 1,317,782 extracted review entries</a:t>
            </a:r>
          </a:p>
        </p:txBody>
      </p:sp>
      <p:graphicFrame>
        <p:nvGraphicFramePr>
          <p:cNvPr id="6" name="Chart 5"/>
          <p:cNvGraphicFramePr>
            <a:graphicFrameLocks noGrp="1"/>
          </p:cNvGraphicFramePr>
          <p:nvPr/>
        </p:nvGraphicFramePr>
        <p:xfrm>
          <a:off x="685800" y="1737360"/>
          <a:ext cx="6675120" cy="4069080"/>
        </p:xfrm>
        <a:graphic>
          <a:graphicData uri="http://schemas.openxmlformats.org/drawingml/2006/chart">
            <c:chart xmlns:c="http://schemas.openxmlformats.org/drawingml/2006/chart" r:id="rId2"/>
          </a:graphicData>
        </a:graphic>
      </p:graphicFrame>
      <p:sp>
        <p:nvSpPr>
          <p:cNvPr id="7" name="Rounded Rectangle 6"/>
          <p:cNvSpPr/>
          <p:nvPr/>
        </p:nvSpPr>
        <p:spPr>
          <a:xfrm>
            <a:off x="7726679" y="1874519"/>
            <a:ext cx="3776472" cy="1371600"/>
          </a:xfrm>
          <a:prstGeom prst="roundRect">
            <a:avLst>
              <a:gd name="adj" fmla="val 6000"/>
            </a:avLst>
          </a:prstGeom>
          <a:solidFill>
            <a:srgbClr val="FFFFFF"/>
          </a:solidFill>
          <a:ln w="12700">
            <a:solidFill>
              <a:srgbClr val="E7E8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909559" y="2020824"/>
            <a:ext cx="3410712" cy="713232"/>
          </a:xfrm>
          <a:prstGeom prst="rect">
            <a:avLst/>
          </a:prstGeom>
          <a:noFill/>
        </p:spPr>
        <p:txBody>
          <a:bodyPr wrap="square" anchor="ctr" lIns="0" rIns="0" tIns="0" bIns="0">
            <a:spAutoFit/>
          </a:bodyPr>
          <a:lstStyle/>
          <a:p>
            <a:pPr algn="l">
              <a:lnSpc>
                <a:spcPct val="100000"/>
              </a:lnSpc>
            </a:pPr>
            <a:r>
              <a:rPr sz="3100" b="1" i="0">
                <a:solidFill>
                  <a:srgbClr val="B85042"/>
                </a:solidFill>
                <a:latin typeface="Cambria"/>
              </a:rPr>
              <a:t>134,612</a:t>
            </a:r>
          </a:p>
        </p:txBody>
      </p:sp>
      <p:sp>
        <p:nvSpPr>
          <p:cNvPr id="9" name="TextBox 8"/>
          <p:cNvSpPr txBox="1"/>
          <p:nvPr/>
        </p:nvSpPr>
        <p:spPr>
          <a:xfrm>
            <a:off x="7909559" y="2743200"/>
            <a:ext cx="3410712" cy="411480"/>
          </a:xfrm>
          <a:prstGeom prst="rect">
            <a:avLst/>
          </a:prstGeom>
          <a:noFill/>
        </p:spPr>
        <p:txBody>
          <a:bodyPr wrap="square" anchor="t" lIns="0" rIns="0" tIns="0" bIns="0">
            <a:spAutoFit/>
          </a:bodyPr>
          <a:lstStyle/>
          <a:p>
            <a:pPr algn="l">
              <a:lnSpc>
                <a:spcPct val="110000"/>
              </a:lnSpc>
            </a:pPr>
            <a:r>
              <a:rPr sz="1150" b="0" i="0">
                <a:solidFill>
                  <a:srgbClr val="7A6A66"/>
                </a:solidFill>
                <a:latin typeface="Calibri"/>
              </a:rPr>
              <a:t>clean, labelled reviews remain</a:t>
            </a:r>
          </a:p>
        </p:txBody>
      </p:sp>
      <p:sp>
        <p:nvSpPr>
          <p:cNvPr id="10" name="Rounded Rectangle 9"/>
          <p:cNvSpPr/>
          <p:nvPr/>
        </p:nvSpPr>
        <p:spPr>
          <a:xfrm>
            <a:off x="7726679" y="3474720"/>
            <a:ext cx="3776472" cy="2331720"/>
          </a:xfrm>
          <a:prstGeom prst="roundRect">
            <a:avLst>
              <a:gd name="adj" fmla="val 6000"/>
            </a:avLst>
          </a:prstGeom>
          <a:solidFill>
            <a:srgbClr val="FFFFFF"/>
          </a:solidFill>
          <a:ln w="12700">
            <a:solidFill>
              <a:srgbClr val="E7E8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964423" y="3657600"/>
            <a:ext cx="3300984" cy="402336"/>
          </a:xfrm>
          <a:prstGeom prst="rect">
            <a:avLst/>
          </a:prstGeom>
          <a:noFill/>
        </p:spPr>
        <p:txBody>
          <a:bodyPr wrap="square" anchor="t" lIns="0" rIns="0" tIns="0" bIns="0">
            <a:spAutoFit/>
          </a:bodyPr>
          <a:lstStyle/>
          <a:p>
            <a:pPr algn="l">
              <a:lnSpc>
                <a:spcPct val="100000"/>
              </a:lnSpc>
            </a:pPr>
            <a:r>
              <a:rPr sz="1700" b="1" i="0">
                <a:solidFill>
                  <a:srgbClr val="2E211E"/>
                </a:solidFill>
                <a:latin typeface="Cambria"/>
              </a:rPr>
              <a:t>Final class balance</a:t>
            </a:r>
          </a:p>
        </p:txBody>
      </p:sp>
      <p:sp>
        <p:nvSpPr>
          <p:cNvPr id="12" name="TextBox 11"/>
          <p:cNvSpPr txBox="1"/>
          <p:nvPr/>
        </p:nvSpPr>
        <p:spPr>
          <a:xfrm>
            <a:off x="7964423" y="4133087"/>
            <a:ext cx="3300984" cy="1472184"/>
          </a:xfrm>
          <a:prstGeom prst="rect">
            <a:avLst/>
          </a:prstGeom>
          <a:noFill/>
        </p:spPr>
        <p:txBody>
          <a:bodyPr wrap="square" anchor="t" lIns="0" rIns="0" tIns="0" bIns="0">
            <a:spAutoFit/>
          </a:bodyPr>
          <a:lstStyle/>
          <a:p>
            <a:pPr algn="l">
              <a:lnSpc>
                <a:spcPct val="120000"/>
              </a:lnSpc>
            </a:pPr>
            <a:r>
              <a:rPr sz="1350" b="0" i="0">
                <a:solidFill>
                  <a:srgbClr val="2E211E"/>
                </a:solidFill>
                <a:latin typeface="Calibri"/>
              </a:rPr>
              <a:t>Positive    81,213    60.3%</a:t>
            </a:r>
          </a:p>
          <a:p>
            <a:pPr algn="l">
              <a:lnSpc>
                <a:spcPct val="120000"/>
              </a:lnSpc>
            </a:pPr>
            <a:r>
              <a:rPr sz="1350" b="0" i="0">
                <a:solidFill>
                  <a:srgbClr val="2E211E"/>
                </a:solidFill>
                <a:latin typeface="Calibri"/>
              </a:rPr>
              <a:t>Negative    28,364    21.1%</a:t>
            </a:r>
          </a:p>
          <a:p>
            <a:pPr algn="l">
              <a:lnSpc>
                <a:spcPct val="120000"/>
              </a:lnSpc>
            </a:pPr>
            <a:r>
              <a:rPr sz="1350" b="0" i="0">
                <a:solidFill>
                  <a:srgbClr val="2E211E"/>
                </a:solidFill>
                <a:latin typeface="Calibri"/>
              </a:rPr>
              <a:t>Neutral     25,035    18.6%</a:t>
            </a:r>
          </a:p>
          <a:p>
            <a:pPr algn="l">
              <a:lnSpc>
                <a:spcPct val="120000"/>
              </a:lnSpc>
            </a:pPr>
            <a:r>
              <a:rPr sz="1350" b="0" i="0">
                <a:solidFill>
                  <a:srgbClr val="2E211E"/>
                </a:solidFill>
                <a:latin typeface="Calibri"/>
              </a:rPr>
              <a:t>A 21% negative class is unusually healthy for review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Oval 1"/>
          <p:cNvSpPr/>
          <p:nvPr/>
        </p:nvSpPr>
        <p:spPr>
          <a:xfrm>
            <a:off x="685800" y="475488"/>
            <a:ext cx="420624" cy="42062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420624" cy="420624"/>
          </a:xfrm>
          <a:prstGeom prst="rect">
            <a:avLst/>
          </a:prstGeom>
          <a:noFill/>
        </p:spPr>
        <p:txBody>
          <a:bodyPr wrap="square" anchor="ctr" lIns="0" rIns="0" tIns="0" bIns="0">
            <a:spAutoFit/>
          </a:bodyPr>
          <a:lstStyle/>
          <a:p>
            <a:pPr algn="ctr">
              <a:lnSpc>
                <a:spcPct val="100000"/>
              </a:lnSpc>
            </a:pPr>
            <a:r>
              <a:rPr sz="1500" b="1" i="0">
                <a:solidFill>
                  <a:srgbClr val="FFFFFF"/>
                </a:solidFill>
                <a:latin typeface="Calibri"/>
              </a:rPr>
              <a:t>6</a:t>
            </a:r>
          </a:p>
        </p:txBody>
      </p:sp>
      <p:sp>
        <p:nvSpPr>
          <p:cNvPr id="4" name="TextBox 3"/>
          <p:cNvSpPr txBox="1"/>
          <p:nvPr/>
        </p:nvSpPr>
        <p:spPr>
          <a:xfrm>
            <a:off x="1307592" y="402336"/>
            <a:ext cx="10198303" cy="566928"/>
          </a:xfrm>
          <a:prstGeom prst="rect">
            <a:avLst/>
          </a:prstGeom>
          <a:noFill/>
        </p:spPr>
        <p:txBody>
          <a:bodyPr wrap="square" anchor="ctr" lIns="0" rIns="0" tIns="0" bIns="0">
            <a:spAutoFit/>
          </a:bodyPr>
          <a:lstStyle/>
          <a:p>
            <a:pPr algn="l">
              <a:lnSpc>
                <a:spcPct val="100000"/>
              </a:lnSpc>
            </a:pPr>
            <a:r>
              <a:rPr sz="3000" b="1" i="0">
                <a:solidFill>
                  <a:srgbClr val="2E211E"/>
                </a:solidFill>
                <a:latin typeface="Cambria"/>
              </a:rPr>
              <a:t>The trap in standard cleaning advice</a:t>
            </a:r>
          </a:p>
        </p:txBody>
      </p:sp>
      <p:sp>
        <p:nvSpPr>
          <p:cNvPr id="5" name="TextBox 4"/>
          <p:cNvSpPr txBox="1"/>
          <p:nvPr/>
        </p:nvSpPr>
        <p:spPr>
          <a:xfrm>
            <a:off x="685800" y="1298448"/>
            <a:ext cx="10820095" cy="411480"/>
          </a:xfrm>
          <a:prstGeom prst="rect">
            <a:avLst/>
          </a:prstGeom>
          <a:noFill/>
        </p:spPr>
        <p:txBody>
          <a:bodyPr wrap="square" anchor="t" lIns="0" rIns="0" tIns="0" bIns="0">
            <a:spAutoFit/>
          </a:bodyPr>
          <a:lstStyle/>
          <a:p>
            <a:pPr algn="l">
              <a:lnSpc>
                <a:spcPct val="100000"/>
              </a:lnSpc>
            </a:pPr>
            <a:r>
              <a:rPr sz="1500" b="0" i="0">
                <a:solidFill>
                  <a:srgbClr val="2E211E"/>
                </a:solidFill>
                <a:latin typeface="Calibri"/>
              </a:rPr>
              <a:t>Stopword lists contain not, no, never and nor. Strip them and “the biryani was not good” becomes “biryani good”.</a:t>
            </a:r>
          </a:p>
        </p:txBody>
      </p:sp>
      <p:sp>
        <p:nvSpPr>
          <p:cNvPr id="6" name="Rounded Rectangle 5"/>
          <p:cNvSpPr/>
          <p:nvPr/>
        </p:nvSpPr>
        <p:spPr>
          <a:xfrm>
            <a:off x="685800" y="1874519"/>
            <a:ext cx="5486400" cy="2011680"/>
          </a:xfrm>
          <a:prstGeom prst="roundRect">
            <a:avLst>
              <a:gd name="adj" fmla="val 6000"/>
            </a:avLst>
          </a:prstGeom>
          <a:solidFill>
            <a:srgbClr val="FFFFFF"/>
          </a:solidFill>
          <a:ln w="12700">
            <a:solidFill>
              <a:srgbClr val="E7E8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23544" y="2057400"/>
            <a:ext cx="5010912" cy="402336"/>
          </a:xfrm>
          <a:prstGeom prst="rect">
            <a:avLst/>
          </a:prstGeom>
          <a:noFill/>
        </p:spPr>
        <p:txBody>
          <a:bodyPr wrap="square" anchor="t" lIns="0" rIns="0" tIns="0" bIns="0">
            <a:spAutoFit/>
          </a:bodyPr>
          <a:lstStyle/>
          <a:p>
            <a:pPr algn="l">
              <a:lnSpc>
                <a:spcPct val="100000"/>
              </a:lnSpc>
            </a:pPr>
            <a:r>
              <a:rPr sz="1700" b="1" i="0">
                <a:solidFill>
                  <a:srgbClr val="B85042"/>
                </a:solidFill>
                <a:latin typeface="Cambria"/>
              </a:rPr>
              <a:t>We measured the cost</a:t>
            </a:r>
          </a:p>
        </p:txBody>
      </p:sp>
      <p:sp>
        <p:nvSpPr>
          <p:cNvPr id="8" name="TextBox 7"/>
          <p:cNvSpPr txBox="1"/>
          <p:nvPr/>
        </p:nvSpPr>
        <p:spPr>
          <a:xfrm>
            <a:off x="923544" y="2532887"/>
            <a:ext cx="5010912" cy="1152144"/>
          </a:xfrm>
          <a:prstGeom prst="rect">
            <a:avLst/>
          </a:prstGeom>
          <a:noFill/>
        </p:spPr>
        <p:txBody>
          <a:bodyPr wrap="square" anchor="t" lIns="0" rIns="0" tIns="0" bIns="0">
            <a:spAutoFit/>
          </a:bodyPr>
          <a:lstStyle/>
          <a:p>
            <a:pPr algn="l">
              <a:lnSpc>
                <a:spcPct val="120000"/>
              </a:lnSpc>
            </a:pPr>
            <a:r>
              <a:rPr sz="1350" b="0" i="0">
                <a:solidFill>
                  <a:srgbClr val="2E211E"/>
                </a:solidFill>
                <a:latin typeface="Calibri"/>
              </a:rPr>
              <a:t>Negation preserved         82.1% acc     77.3 F1</a:t>
            </a:r>
          </a:p>
          <a:p>
            <a:pPr algn="l">
              <a:lnSpc>
                <a:spcPct val="120000"/>
              </a:lnSpc>
            </a:pPr>
            <a:r>
              <a:rPr sz="1350" b="0" i="0">
                <a:solidFill>
                  <a:srgbClr val="2E211E"/>
                </a:solidFill>
                <a:latin typeface="Calibri"/>
              </a:rPr>
              <a:t>Default stopword list      80.1% acc     74.8 F1</a:t>
            </a:r>
          </a:p>
          <a:p>
            <a:pPr algn="l">
              <a:lnSpc>
                <a:spcPct val="120000"/>
              </a:lnSpc>
            </a:pPr>
            <a:r>
              <a:rPr sz="1350" b="0" i="0">
                <a:solidFill>
                  <a:srgbClr val="2E211E"/>
                </a:solidFill>
                <a:latin typeface="Calibri"/>
              </a:rPr>
              <a:t>Cost of stripping negations:  −2.01 accuracy, −2.48 macro-F1</a:t>
            </a:r>
          </a:p>
        </p:txBody>
      </p:sp>
      <p:sp>
        <p:nvSpPr>
          <p:cNvPr id="9" name="Rounded Rectangle 8"/>
          <p:cNvSpPr/>
          <p:nvPr/>
        </p:nvSpPr>
        <p:spPr>
          <a:xfrm>
            <a:off x="6492240" y="1874519"/>
            <a:ext cx="5010912" cy="2011680"/>
          </a:xfrm>
          <a:prstGeom prst="roundRect">
            <a:avLst>
              <a:gd name="adj" fmla="val 6000"/>
            </a:avLst>
          </a:prstGeom>
          <a:solidFill>
            <a:srgbClr val="FFFFFF"/>
          </a:solidFill>
          <a:ln w="12700">
            <a:solidFill>
              <a:srgbClr val="E7E8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29983" y="2057400"/>
            <a:ext cx="4535424" cy="402336"/>
          </a:xfrm>
          <a:prstGeom prst="rect">
            <a:avLst/>
          </a:prstGeom>
          <a:noFill/>
        </p:spPr>
        <p:txBody>
          <a:bodyPr wrap="square" anchor="t" lIns="0" rIns="0" tIns="0" bIns="0">
            <a:spAutoFit/>
          </a:bodyPr>
          <a:lstStyle/>
          <a:p>
            <a:pPr algn="l">
              <a:lnSpc>
                <a:spcPct val="100000"/>
              </a:lnSpc>
            </a:pPr>
            <a:r>
              <a:rPr sz="1700" b="1" i="0">
                <a:solidFill>
                  <a:srgbClr val="2F7D54"/>
                </a:solidFill>
                <a:latin typeface="Cambria"/>
              </a:rPr>
              <a:t>The model proves the mechanism</a:t>
            </a:r>
          </a:p>
        </p:txBody>
      </p:sp>
      <p:sp>
        <p:nvSpPr>
          <p:cNvPr id="11" name="TextBox 10"/>
          <p:cNvSpPr txBox="1"/>
          <p:nvPr/>
        </p:nvSpPr>
        <p:spPr>
          <a:xfrm>
            <a:off x="6729983" y="2532887"/>
            <a:ext cx="4535424" cy="1152144"/>
          </a:xfrm>
          <a:prstGeom prst="rect">
            <a:avLst/>
          </a:prstGeom>
          <a:noFill/>
        </p:spPr>
        <p:txBody>
          <a:bodyPr wrap="square" anchor="t" lIns="0" rIns="0" tIns="0" bIns="0">
            <a:spAutoFit/>
          </a:bodyPr>
          <a:lstStyle/>
          <a:p>
            <a:pPr algn="l">
              <a:lnSpc>
                <a:spcPct val="120000"/>
              </a:lnSpc>
            </a:pPr>
            <a:r>
              <a:rPr sz="1350" b="0" i="0">
                <a:solidFill>
                  <a:srgbClr val="2E211E"/>
                </a:solidFill>
                <a:latin typeface="Calibri"/>
              </a:rPr>
              <a:t>not  +7.74   →  negative</a:t>
            </a:r>
          </a:p>
          <a:p>
            <a:pPr algn="l">
              <a:lnSpc>
                <a:spcPct val="120000"/>
              </a:lnSpc>
            </a:pPr>
            <a:r>
              <a:rPr sz="1350" b="0" i="0">
                <a:solidFill>
                  <a:srgbClr val="2E211E"/>
                </a:solidFill>
                <a:latin typeface="Calibri"/>
              </a:rPr>
              <a:t>not good  +6.45   →  negative</a:t>
            </a:r>
          </a:p>
          <a:p>
            <a:pPr algn="l">
              <a:lnSpc>
                <a:spcPct val="120000"/>
              </a:lnSpc>
            </a:pPr>
            <a:r>
              <a:rPr sz="1350" b="0" i="0">
                <a:solidFill>
                  <a:srgbClr val="2E211E"/>
                </a:solidFill>
                <a:latin typeface="Calibri"/>
              </a:rPr>
              <a:t>not bad  +3.67   →  neutral</a:t>
            </a:r>
          </a:p>
          <a:p>
            <a:pPr algn="l">
              <a:lnSpc>
                <a:spcPct val="120000"/>
              </a:lnSpc>
            </a:pPr>
            <a:r>
              <a:rPr sz="1350" b="0" i="0">
                <a:solidFill>
                  <a:srgbClr val="2E211E"/>
                </a:solidFill>
                <a:latin typeface="Calibri"/>
              </a:rPr>
              <a:t>not disappointed  +6.64   →  positive</a:t>
            </a:r>
          </a:p>
        </p:txBody>
      </p:sp>
      <p:sp>
        <p:nvSpPr>
          <p:cNvPr id="12" name="Rounded Rectangle 11"/>
          <p:cNvSpPr/>
          <p:nvPr/>
        </p:nvSpPr>
        <p:spPr>
          <a:xfrm>
            <a:off x="685800" y="4160520"/>
            <a:ext cx="10820095" cy="1691640"/>
          </a:xfrm>
          <a:prstGeom prst="roundRect">
            <a:avLst>
              <a:gd name="adj" fmla="val 6000"/>
            </a:avLst>
          </a:prstGeom>
          <a:solidFill>
            <a:srgbClr val="FFFFFF"/>
          </a:solidFill>
          <a:ln w="12700">
            <a:solidFill>
              <a:srgbClr val="E7E8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78408" y="4370832"/>
            <a:ext cx="10234879" cy="384048"/>
          </a:xfrm>
          <a:prstGeom prst="rect">
            <a:avLst/>
          </a:prstGeom>
          <a:noFill/>
        </p:spPr>
        <p:txBody>
          <a:bodyPr wrap="square" anchor="t" lIns="0" rIns="0" tIns="0" bIns="0">
            <a:spAutoFit/>
          </a:bodyPr>
          <a:lstStyle/>
          <a:p>
            <a:pPr algn="l">
              <a:lnSpc>
                <a:spcPct val="100000"/>
              </a:lnSpc>
            </a:pPr>
            <a:r>
              <a:rPr sz="1900" b="1" i="0">
                <a:solidFill>
                  <a:srgbClr val="2E211E"/>
                </a:solidFill>
                <a:latin typeface="Cambria"/>
              </a:rPr>
              <a:t>Three different sentiments, all carried by the same word.</a:t>
            </a:r>
          </a:p>
        </p:txBody>
      </p:sp>
      <p:sp>
        <p:nvSpPr>
          <p:cNvPr id="14" name="TextBox 13"/>
          <p:cNvSpPr txBox="1"/>
          <p:nvPr/>
        </p:nvSpPr>
        <p:spPr>
          <a:xfrm>
            <a:off x="978408" y="4828032"/>
            <a:ext cx="10234879" cy="914400"/>
          </a:xfrm>
          <a:prstGeom prst="rect">
            <a:avLst/>
          </a:prstGeom>
          <a:noFill/>
        </p:spPr>
        <p:txBody>
          <a:bodyPr wrap="square" anchor="t" lIns="0" rIns="0" tIns="0" bIns="0">
            <a:spAutoFit/>
          </a:bodyPr>
          <a:lstStyle/>
          <a:p>
            <a:pPr algn="l">
              <a:lnSpc>
                <a:spcPct val="122000"/>
              </a:lnSpc>
            </a:pPr>
            <a:r>
              <a:rPr sz="1450" b="0" i="0">
                <a:solidFill>
                  <a:srgbClr val="2E211E"/>
                </a:solidFill>
                <a:latin typeface="Calibri"/>
              </a:rPr>
              <a:t>These weights were learned independently from 91,535 reviews — we never told the model that negation matters. Delete not from the corpus and all three collapse into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Oval 1"/>
          <p:cNvSpPr/>
          <p:nvPr/>
        </p:nvSpPr>
        <p:spPr>
          <a:xfrm>
            <a:off x="685800" y="475488"/>
            <a:ext cx="420624" cy="42062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420624" cy="420624"/>
          </a:xfrm>
          <a:prstGeom prst="rect">
            <a:avLst/>
          </a:prstGeom>
          <a:noFill/>
        </p:spPr>
        <p:txBody>
          <a:bodyPr wrap="square" anchor="ctr" lIns="0" rIns="0" tIns="0" bIns="0">
            <a:spAutoFit/>
          </a:bodyPr>
          <a:lstStyle/>
          <a:p>
            <a:pPr algn="ctr">
              <a:lnSpc>
                <a:spcPct val="100000"/>
              </a:lnSpc>
            </a:pPr>
            <a:r>
              <a:rPr sz="1500" b="1" i="0">
                <a:solidFill>
                  <a:srgbClr val="FFFFFF"/>
                </a:solidFill>
                <a:latin typeface="Calibri"/>
              </a:rPr>
              <a:t>7</a:t>
            </a:r>
          </a:p>
        </p:txBody>
      </p:sp>
      <p:sp>
        <p:nvSpPr>
          <p:cNvPr id="4" name="TextBox 3"/>
          <p:cNvSpPr txBox="1"/>
          <p:nvPr/>
        </p:nvSpPr>
        <p:spPr>
          <a:xfrm>
            <a:off x="1307592" y="402336"/>
            <a:ext cx="10198303" cy="566928"/>
          </a:xfrm>
          <a:prstGeom prst="rect">
            <a:avLst/>
          </a:prstGeom>
          <a:noFill/>
        </p:spPr>
        <p:txBody>
          <a:bodyPr wrap="square" anchor="ctr" lIns="0" rIns="0" tIns="0" bIns="0">
            <a:spAutoFit/>
          </a:bodyPr>
          <a:lstStyle/>
          <a:p>
            <a:pPr algn="l">
              <a:lnSpc>
                <a:spcPct val="100000"/>
              </a:lnSpc>
            </a:pPr>
            <a:r>
              <a:rPr sz="3000" b="1" i="0">
                <a:solidFill>
                  <a:srgbClr val="2E211E"/>
                </a:solidFill>
                <a:latin typeface="Cambria"/>
              </a:rPr>
              <a:t>Extracting dish names</a:t>
            </a:r>
          </a:p>
        </p:txBody>
      </p:sp>
      <p:sp>
        <p:nvSpPr>
          <p:cNvPr id="5" name="Rounded Rectangle 4"/>
          <p:cNvSpPr/>
          <p:nvPr/>
        </p:nvSpPr>
        <p:spPr>
          <a:xfrm>
            <a:off x="685800" y="1371600"/>
            <a:ext cx="10820095" cy="1207008"/>
          </a:xfrm>
          <a:prstGeom prst="roundRect">
            <a:avLst>
              <a:gd name="adj" fmla="val 6000"/>
            </a:avLst>
          </a:prstGeom>
          <a:solidFill>
            <a:srgbClr val="FAEDEA"/>
          </a:solidFill>
          <a:ln w="25400">
            <a:solidFill>
              <a:srgbClr val="B850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78408" y="1536192"/>
            <a:ext cx="10234879" cy="365760"/>
          </a:xfrm>
          <a:prstGeom prst="rect">
            <a:avLst/>
          </a:prstGeom>
          <a:noFill/>
        </p:spPr>
        <p:txBody>
          <a:bodyPr wrap="square" anchor="t" lIns="0" rIns="0" tIns="0" bIns="0">
            <a:spAutoFit/>
          </a:bodyPr>
          <a:lstStyle/>
          <a:p>
            <a:pPr algn="l">
              <a:lnSpc>
                <a:spcPct val="100000"/>
              </a:lnSpc>
            </a:pPr>
            <a:r>
              <a:rPr sz="1800" b="1" i="0">
                <a:solidFill>
                  <a:srgbClr val="8A2F24"/>
                </a:solidFill>
                <a:latin typeface="Cambria"/>
              </a:rPr>
              <a:t>Correction to our original proposal: off-the-shelf NER does not detect dishes.</a:t>
            </a:r>
          </a:p>
        </p:txBody>
      </p:sp>
      <p:sp>
        <p:nvSpPr>
          <p:cNvPr id="7" name="TextBox 6"/>
          <p:cNvSpPr txBox="1"/>
          <p:nvPr/>
        </p:nvSpPr>
        <p:spPr>
          <a:xfrm>
            <a:off x="978408" y="1947672"/>
            <a:ext cx="10234879" cy="548640"/>
          </a:xfrm>
          <a:prstGeom prst="rect">
            <a:avLst/>
          </a:prstGeom>
          <a:noFill/>
        </p:spPr>
        <p:txBody>
          <a:bodyPr wrap="square" anchor="t" lIns="0" rIns="0" tIns="0" bIns="0">
            <a:spAutoFit/>
          </a:bodyPr>
          <a:lstStyle/>
          <a:p>
            <a:pPr algn="l">
              <a:lnSpc>
                <a:spcPct val="115000"/>
              </a:lnSpc>
            </a:pPr>
            <a:r>
              <a:rPr sz="1400" b="0" i="0">
                <a:solidFill>
                  <a:srgbClr val="8A2F24"/>
                </a:solidFill>
                <a:latin typeface="Calibri"/>
              </a:rPr>
              <a:t>spaCy recognises PERSON, ORG, GPE and DATE. There is no FOOD entity type — running NER over “the chicken biryani was dry” returns nothing useful.</a:t>
            </a:r>
          </a:p>
        </p:txBody>
      </p:sp>
      <p:sp>
        <p:nvSpPr>
          <p:cNvPr id="8" name="TextBox 7"/>
          <p:cNvSpPr txBox="1"/>
          <p:nvPr/>
        </p:nvSpPr>
        <p:spPr>
          <a:xfrm>
            <a:off x="685800" y="2788920"/>
            <a:ext cx="10820095" cy="365760"/>
          </a:xfrm>
          <a:prstGeom prst="rect">
            <a:avLst/>
          </a:prstGeom>
          <a:noFill/>
        </p:spPr>
        <p:txBody>
          <a:bodyPr wrap="square" anchor="t" lIns="0" rIns="0" tIns="0" bIns="0">
            <a:spAutoFit/>
          </a:bodyPr>
          <a:lstStyle/>
          <a:p>
            <a:pPr algn="l">
              <a:lnSpc>
                <a:spcPct val="100000"/>
              </a:lnSpc>
            </a:pPr>
            <a:r>
              <a:rPr sz="1900" b="1" i="0">
                <a:solidFill>
                  <a:srgbClr val="2E211E"/>
                </a:solidFill>
                <a:latin typeface="Cambria"/>
              </a:rPr>
              <a:t>What we do instead: dictionary matching</a:t>
            </a:r>
          </a:p>
        </p:txBody>
      </p:sp>
      <p:sp>
        <p:nvSpPr>
          <p:cNvPr id="9" name="TextBox 8"/>
          <p:cNvSpPr txBox="1"/>
          <p:nvPr/>
        </p:nvSpPr>
        <p:spPr>
          <a:xfrm>
            <a:off x="685800" y="3273552"/>
            <a:ext cx="6629400" cy="2560320"/>
          </a:xfrm>
          <a:prstGeom prst="rect">
            <a:avLst/>
          </a:prstGeom>
          <a:noFill/>
        </p:spPr>
        <p:txBody>
          <a:bodyPr wrap="square" anchor="t" lIns="0" rIns="0" tIns="0" bIns="0">
            <a:spAutoFit/>
          </a:bodyPr>
          <a:lstStyle/>
          <a:p>
            <a:pPr algn="l">
              <a:lnSpc>
                <a:spcPct val="114000"/>
              </a:lnSpc>
              <a:spcAft>
                <a:spcPts val="900"/>
              </a:spcAft>
            </a:pPr>
            <a:r>
              <a:rPr sz="1400" b="0" i="0">
                <a:solidFill>
                  <a:srgbClr val="2E211E"/>
                </a:solidFill>
                <a:latin typeface="Calibri"/>
              </a:rPr>
              <a:t>•  A 2,774-term gazetteer built from the dataset's own dish_liked field</a:t>
            </a:r>
          </a:p>
          <a:p>
            <a:pPr algn="l">
              <a:lnSpc>
                <a:spcPct val="114000"/>
              </a:lnSpc>
              <a:spcAft>
                <a:spcPts val="900"/>
              </a:spcAft>
            </a:pPr>
            <a:r>
              <a:rPr sz="1400" b="0" i="0">
                <a:solidFill>
                  <a:srgbClr val="2E211E"/>
                </a:solidFill>
                <a:latin typeface="Calibri"/>
              </a:rPr>
              <a:t>•  Longest-match preference, so chicken biryani wins over biryani</a:t>
            </a:r>
          </a:p>
          <a:p>
            <a:pPr algn="l">
              <a:lnSpc>
                <a:spcPct val="114000"/>
              </a:lnSpc>
              <a:spcAft>
                <a:spcPts val="900"/>
              </a:spcAft>
            </a:pPr>
            <a:r>
              <a:rPr sz="1400" b="0" i="0">
                <a:solidFill>
                  <a:srgbClr val="2E211E"/>
                </a:solidFill>
                <a:latin typeface="Calibri"/>
              </a:rPr>
              <a:t>•  Variant normalisation: Panneer / Panner → paneer, Biriyani → biryani</a:t>
            </a:r>
          </a:p>
          <a:p>
            <a:pPr algn="l">
              <a:lnSpc>
                <a:spcPct val="114000"/>
              </a:lnSpc>
              <a:spcAft>
                <a:spcPts val="900"/>
              </a:spcAft>
            </a:pPr>
            <a:r>
              <a:rPr sz="1400" b="0" i="0">
                <a:solidFill>
                  <a:srgbClr val="2E211E"/>
                </a:solidFill>
                <a:latin typeface="Calibri"/>
              </a:rPr>
              <a:t>•  Bare ingredients blocked as single words — chicken and rice are not orderable, but chicken biryani and fried rice survive</a:t>
            </a:r>
          </a:p>
        </p:txBody>
      </p:sp>
      <p:sp>
        <p:nvSpPr>
          <p:cNvPr id="10" name="Rounded Rectangle 9"/>
          <p:cNvSpPr/>
          <p:nvPr/>
        </p:nvSpPr>
        <p:spPr>
          <a:xfrm>
            <a:off x="7635240" y="3200400"/>
            <a:ext cx="3867912" cy="2651760"/>
          </a:xfrm>
          <a:prstGeom prst="roundRect">
            <a:avLst>
              <a:gd name="adj" fmla="val 6000"/>
            </a:avLst>
          </a:prstGeom>
          <a:solidFill>
            <a:srgbClr val="FFFFFF"/>
          </a:solidFill>
          <a:ln w="12700">
            <a:solidFill>
              <a:srgbClr val="E7E8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872983" y="3383280"/>
            <a:ext cx="3392424" cy="402336"/>
          </a:xfrm>
          <a:prstGeom prst="rect">
            <a:avLst/>
          </a:prstGeom>
          <a:noFill/>
        </p:spPr>
        <p:txBody>
          <a:bodyPr wrap="square" anchor="t" lIns="0" rIns="0" tIns="0" bIns="0">
            <a:spAutoFit/>
          </a:bodyPr>
          <a:lstStyle/>
          <a:p>
            <a:pPr algn="l">
              <a:lnSpc>
                <a:spcPct val="100000"/>
              </a:lnSpc>
            </a:pPr>
            <a:r>
              <a:rPr sz="1700" b="1" i="0">
                <a:solidFill>
                  <a:srgbClr val="7A6A66"/>
                </a:solidFill>
                <a:latin typeface="Cambria"/>
              </a:rPr>
              <a:t>dish_liked is weak supervision</a:t>
            </a:r>
          </a:p>
        </p:txBody>
      </p:sp>
      <p:sp>
        <p:nvSpPr>
          <p:cNvPr id="12" name="TextBox 11"/>
          <p:cNvSpPr txBox="1"/>
          <p:nvPr/>
        </p:nvSpPr>
        <p:spPr>
          <a:xfrm>
            <a:off x="7872983" y="3858768"/>
            <a:ext cx="3392424" cy="1792224"/>
          </a:xfrm>
          <a:prstGeom prst="rect">
            <a:avLst/>
          </a:prstGeom>
          <a:noFill/>
        </p:spPr>
        <p:txBody>
          <a:bodyPr wrap="square" anchor="t" lIns="0" rIns="0" tIns="0" bIns="0">
            <a:spAutoFit/>
          </a:bodyPr>
          <a:lstStyle/>
          <a:p>
            <a:pPr algn="l">
              <a:lnSpc>
                <a:spcPct val="120000"/>
              </a:lnSpc>
            </a:pPr>
            <a:r>
              <a:rPr sz="1300" b="0" i="0">
                <a:solidFill>
                  <a:srgbClr val="2E211E"/>
                </a:solidFill>
                <a:latin typeface="Calibri"/>
              </a:rPr>
              <a:t>Covers only 36.9% of restaurants</a:t>
            </a:r>
          </a:p>
          <a:p>
            <a:pPr algn="l">
              <a:lnSpc>
                <a:spcPct val="120000"/>
              </a:lnSpc>
            </a:pPr>
            <a:r>
              <a:rPr sz="1300" b="0" i="0">
                <a:solidFill>
                  <a:srgbClr val="2E211E"/>
                </a:solidFill>
                <a:latin typeface="Calibri"/>
              </a:rPr>
              <a:t>Attached to the restaurant, not the review</a:t>
            </a:r>
          </a:p>
          <a:p>
            <a:pPr algn="l">
              <a:lnSpc>
                <a:spcPct val="120000"/>
              </a:lnSpc>
            </a:pPr>
            <a:r>
              <a:rPr sz="1300" b="0" i="0">
                <a:solidFill>
                  <a:srgbClr val="2E211E"/>
                </a:solidFill>
                <a:latin typeface="Calibri"/>
              </a:rPr>
              <a:t>Terms are coarse — pasta, burgers, cocktails are categories</a:t>
            </a:r>
          </a:p>
          <a:p>
            <a:pPr algn="l">
              <a:lnSpc>
                <a:spcPct val="120000"/>
              </a:lnSpc>
            </a:pPr>
            <a:r>
              <a:rPr sz="1300" b="0" i="0">
                <a:solidFill>
                  <a:srgbClr val="2E211E"/>
                </a:solidFill>
                <a:latin typeface="Calibri"/>
              </a:rPr>
              <a:t>We use it as a vocabulary source, not as labels.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Oval 1"/>
          <p:cNvSpPr/>
          <p:nvPr/>
        </p:nvSpPr>
        <p:spPr>
          <a:xfrm>
            <a:off x="685800" y="475488"/>
            <a:ext cx="420624" cy="42062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420624" cy="420624"/>
          </a:xfrm>
          <a:prstGeom prst="rect">
            <a:avLst/>
          </a:prstGeom>
          <a:noFill/>
        </p:spPr>
        <p:txBody>
          <a:bodyPr wrap="square" anchor="ctr" lIns="0" rIns="0" tIns="0" bIns="0">
            <a:spAutoFit/>
          </a:bodyPr>
          <a:lstStyle/>
          <a:p>
            <a:pPr algn="ctr">
              <a:lnSpc>
                <a:spcPct val="100000"/>
              </a:lnSpc>
            </a:pPr>
            <a:r>
              <a:rPr sz="1500" b="1" i="0">
                <a:solidFill>
                  <a:srgbClr val="FFFFFF"/>
                </a:solidFill>
                <a:latin typeface="Calibri"/>
              </a:rPr>
              <a:t>8</a:t>
            </a:r>
          </a:p>
        </p:txBody>
      </p:sp>
      <p:sp>
        <p:nvSpPr>
          <p:cNvPr id="4" name="TextBox 3"/>
          <p:cNvSpPr txBox="1"/>
          <p:nvPr/>
        </p:nvSpPr>
        <p:spPr>
          <a:xfrm>
            <a:off x="1307592" y="402336"/>
            <a:ext cx="10198303" cy="566928"/>
          </a:xfrm>
          <a:prstGeom prst="rect">
            <a:avLst/>
          </a:prstGeom>
          <a:noFill/>
        </p:spPr>
        <p:txBody>
          <a:bodyPr wrap="square" anchor="ctr" lIns="0" rIns="0" tIns="0" bIns="0">
            <a:spAutoFit/>
          </a:bodyPr>
          <a:lstStyle/>
          <a:p>
            <a:pPr algn="l">
              <a:lnSpc>
                <a:spcPct val="100000"/>
              </a:lnSpc>
            </a:pPr>
            <a:r>
              <a:rPr sz="3000" b="1" i="0">
                <a:solidFill>
                  <a:srgbClr val="2E211E"/>
                </a:solidFill>
                <a:latin typeface="Cambria"/>
              </a:rPr>
              <a:t>Sentiment model results</a:t>
            </a:r>
          </a:p>
        </p:txBody>
      </p:sp>
      <p:sp>
        <p:nvSpPr>
          <p:cNvPr id="5" name="TextBox 4"/>
          <p:cNvSpPr txBox="1"/>
          <p:nvPr/>
        </p:nvSpPr>
        <p:spPr>
          <a:xfrm>
            <a:off x="685800" y="1298448"/>
            <a:ext cx="10820095" cy="320040"/>
          </a:xfrm>
          <a:prstGeom prst="rect">
            <a:avLst/>
          </a:prstGeom>
          <a:noFill/>
        </p:spPr>
        <p:txBody>
          <a:bodyPr wrap="square" anchor="t" lIns="0" rIns="0" tIns="0" bIns="0">
            <a:spAutoFit/>
          </a:bodyPr>
          <a:lstStyle/>
          <a:p>
            <a:pPr algn="l">
              <a:lnSpc>
                <a:spcPct val="100000"/>
              </a:lnSpc>
            </a:pPr>
            <a:r>
              <a:rPr sz="1400" b="0" i="0">
                <a:solidFill>
                  <a:srgbClr val="7A6A66"/>
                </a:solidFill>
                <a:latin typeface="Calibri"/>
              </a:rPr>
              <a:t>TF-IDF + logistic regression. Trained on 91,535 reviews, tuned on 16,154, evaluated on a held-out 26,923.</a:t>
            </a:r>
          </a:p>
        </p:txBody>
      </p:sp>
      <p:graphicFrame>
        <p:nvGraphicFramePr>
          <p:cNvPr id="6" name="Chart 5"/>
          <p:cNvGraphicFramePr>
            <a:graphicFrameLocks noGrp="1"/>
          </p:cNvGraphicFramePr>
          <p:nvPr/>
        </p:nvGraphicFramePr>
        <p:xfrm>
          <a:off x="685800" y="1737360"/>
          <a:ext cx="7132320" cy="4069080"/>
        </p:xfrm>
        <a:graphic>
          <a:graphicData uri="http://schemas.openxmlformats.org/drawingml/2006/chart">
            <c:chart xmlns:c="http://schemas.openxmlformats.org/drawingml/2006/chart" r:id="rId2"/>
          </a:graphicData>
        </a:graphic>
      </p:graphicFrame>
      <p:sp>
        <p:nvSpPr>
          <p:cNvPr id="7" name="Rounded Rectangle 6"/>
          <p:cNvSpPr/>
          <p:nvPr/>
        </p:nvSpPr>
        <p:spPr>
          <a:xfrm>
            <a:off x="8183879" y="1874519"/>
            <a:ext cx="3319272" cy="1874519"/>
          </a:xfrm>
          <a:prstGeom prst="roundRect">
            <a:avLst>
              <a:gd name="adj" fmla="val 6000"/>
            </a:avLst>
          </a:prstGeom>
          <a:solidFill>
            <a:srgbClr val="FFFFFF"/>
          </a:solidFill>
          <a:ln w="12700">
            <a:solidFill>
              <a:srgbClr val="E7E8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421624" y="2057400"/>
            <a:ext cx="2843784" cy="402336"/>
          </a:xfrm>
          <a:prstGeom prst="rect">
            <a:avLst/>
          </a:prstGeom>
          <a:noFill/>
        </p:spPr>
        <p:txBody>
          <a:bodyPr wrap="square" anchor="t" lIns="0" rIns="0" tIns="0" bIns="0">
            <a:spAutoFit/>
          </a:bodyPr>
          <a:lstStyle/>
          <a:p>
            <a:pPr algn="l">
              <a:lnSpc>
                <a:spcPct val="100000"/>
              </a:lnSpc>
            </a:pPr>
            <a:r>
              <a:rPr sz="1700" b="1" i="0">
                <a:solidFill>
                  <a:srgbClr val="2E211E"/>
                </a:solidFill>
                <a:latin typeface="Cambria"/>
              </a:rPr>
              <a:t>Why we trained our own</a:t>
            </a:r>
          </a:p>
        </p:txBody>
      </p:sp>
      <p:sp>
        <p:nvSpPr>
          <p:cNvPr id="9" name="TextBox 8"/>
          <p:cNvSpPr txBox="1"/>
          <p:nvPr/>
        </p:nvSpPr>
        <p:spPr>
          <a:xfrm>
            <a:off x="8421624" y="2532887"/>
            <a:ext cx="2843784" cy="1014983"/>
          </a:xfrm>
          <a:prstGeom prst="rect">
            <a:avLst/>
          </a:prstGeom>
          <a:noFill/>
        </p:spPr>
        <p:txBody>
          <a:bodyPr wrap="square" anchor="t" lIns="0" rIns="0" tIns="0" bIns="0">
            <a:spAutoFit/>
          </a:bodyPr>
          <a:lstStyle/>
          <a:p>
            <a:pPr algn="l">
              <a:lnSpc>
                <a:spcPct val="120000"/>
              </a:lnSpc>
            </a:pPr>
            <a:r>
              <a:rPr sz="1300" b="0" i="0">
                <a:solidFill>
                  <a:srgbClr val="2E211E"/>
                </a:solidFill>
                <a:latin typeface="Calibri"/>
              </a:rPr>
              <a:t>Every review carries its own star rating, so labels cost nothing.</a:t>
            </a:r>
          </a:p>
          <a:p>
            <a:pPr algn="l">
              <a:lnSpc>
                <a:spcPct val="120000"/>
              </a:lnSpc>
            </a:pPr>
            <a:r>
              <a:rPr sz="1300" b="0" i="0">
                <a:solidFill>
                  <a:srgbClr val="2E211E"/>
                </a:solidFill>
                <a:latin typeface="Calibri"/>
              </a:rPr>
              <a:t>And the learned weights are the explanation.</a:t>
            </a:r>
          </a:p>
        </p:txBody>
      </p:sp>
      <p:sp>
        <p:nvSpPr>
          <p:cNvPr id="10" name="Rounded Rectangle 9"/>
          <p:cNvSpPr/>
          <p:nvPr/>
        </p:nvSpPr>
        <p:spPr>
          <a:xfrm>
            <a:off x="8183879" y="3931920"/>
            <a:ext cx="3319272" cy="1874519"/>
          </a:xfrm>
          <a:prstGeom prst="roundRect">
            <a:avLst>
              <a:gd name="adj" fmla="val 6000"/>
            </a:avLst>
          </a:prstGeom>
          <a:solidFill>
            <a:srgbClr val="FFFFFF"/>
          </a:solidFill>
          <a:ln w="12700">
            <a:solidFill>
              <a:srgbClr val="E7E8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421624" y="4114800"/>
            <a:ext cx="2843784" cy="402336"/>
          </a:xfrm>
          <a:prstGeom prst="rect">
            <a:avLst/>
          </a:prstGeom>
          <a:noFill/>
        </p:spPr>
        <p:txBody>
          <a:bodyPr wrap="square" anchor="t" lIns="0" rIns="0" tIns="0" bIns="0">
            <a:spAutoFit/>
          </a:bodyPr>
          <a:lstStyle/>
          <a:p>
            <a:pPr algn="l">
              <a:lnSpc>
                <a:spcPct val="100000"/>
              </a:lnSpc>
            </a:pPr>
            <a:r>
              <a:rPr sz="1700" b="1" i="0">
                <a:solidFill>
                  <a:srgbClr val="2E211E"/>
                </a:solidFill>
                <a:latin typeface="Cambria"/>
              </a:rPr>
              <a:t>Per class F1</a:t>
            </a:r>
          </a:p>
        </p:txBody>
      </p:sp>
      <p:sp>
        <p:nvSpPr>
          <p:cNvPr id="12" name="TextBox 11"/>
          <p:cNvSpPr txBox="1"/>
          <p:nvPr/>
        </p:nvSpPr>
        <p:spPr>
          <a:xfrm>
            <a:off x="8421624" y="4590288"/>
            <a:ext cx="2843784" cy="1014983"/>
          </a:xfrm>
          <a:prstGeom prst="rect">
            <a:avLst/>
          </a:prstGeom>
          <a:noFill/>
        </p:spPr>
        <p:txBody>
          <a:bodyPr wrap="square" anchor="t" lIns="0" rIns="0" tIns="0" bIns="0">
            <a:spAutoFit/>
          </a:bodyPr>
          <a:lstStyle/>
          <a:p>
            <a:pPr algn="l">
              <a:lnSpc>
                <a:spcPct val="120000"/>
              </a:lnSpc>
            </a:pPr>
            <a:r>
              <a:rPr sz="1350" b="0" i="0">
                <a:solidFill>
                  <a:srgbClr val="2E211E"/>
                </a:solidFill>
                <a:latin typeface="Calibri"/>
              </a:rPr>
              <a:t>Positive     0.892</a:t>
            </a:r>
          </a:p>
          <a:p>
            <a:pPr algn="l">
              <a:lnSpc>
                <a:spcPct val="120000"/>
              </a:lnSpc>
            </a:pPr>
            <a:r>
              <a:rPr sz="1350" b="0" i="0">
                <a:solidFill>
                  <a:srgbClr val="2E211E"/>
                </a:solidFill>
                <a:latin typeface="Calibri"/>
              </a:rPr>
              <a:t>Negative     0.847</a:t>
            </a:r>
          </a:p>
          <a:p>
            <a:pPr algn="l">
              <a:lnSpc>
                <a:spcPct val="120000"/>
              </a:lnSpc>
            </a:pPr>
            <a:r>
              <a:rPr sz="1350" b="0" i="0">
                <a:solidFill>
                  <a:srgbClr val="2E211E"/>
                </a:solidFill>
                <a:latin typeface="Calibri"/>
              </a:rPr>
              <a:t>Neutral      0.581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Oval 1"/>
          <p:cNvSpPr/>
          <p:nvPr/>
        </p:nvSpPr>
        <p:spPr>
          <a:xfrm>
            <a:off x="685800" y="475488"/>
            <a:ext cx="420624" cy="42062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420624" cy="420624"/>
          </a:xfrm>
          <a:prstGeom prst="rect">
            <a:avLst/>
          </a:prstGeom>
          <a:noFill/>
        </p:spPr>
        <p:txBody>
          <a:bodyPr wrap="square" anchor="ctr" lIns="0" rIns="0" tIns="0" bIns="0">
            <a:spAutoFit/>
          </a:bodyPr>
          <a:lstStyle/>
          <a:p>
            <a:pPr algn="ctr">
              <a:lnSpc>
                <a:spcPct val="100000"/>
              </a:lnSpc>
            </a:pPr>
            <a:r>
              <a:rPr sz="1500" b="1" i="0">
                <a:solidFill>
                  <a:srgbClr val="FFFFFF"/>
                </a:solidFill>
                <a:latin typeface="Calibri"/>
              </a:rPr>
              <a:t>9</a:t>
            </a:r>
          </a:p>
        </p:txBody>
      </p:sp>
      <p:sp>
        <p:nvSpPr>
          <p:cNvPr id="4" name="TextBox 3"/>
          <p:cNvSpPr txBox="1"/>
          <p:nvPr/>
        </p:nvSpPr>
        <p:spPr>
          <a:xfrm>
            <a:off x="1307592" y="402336"/>
            <a:ext cx="10198303" cy="566928"/>
          </a:xfrm>
          <a:prstGeom prst="rect">
            <a:avLst/>
          </a:prstGeom>
          <a:noFill/>
        </p:spPr>
        <p:txBody>
          <a:bodyPr wrap="square" anchor="ctr" lIns="0" rIns="0" tIns="0" bIns="0">
            <a:spAutoFit/>
          </a:bodyPr>
          <a:lstStyle/>
          <a:p>
            <a:pPr algn="l">
              <a:lnSpc>
                <a:spcPct val="100000"/>
              </a:lnSpc>
            </a:pPr>
            <a:r>
              <a:rPr sz="3000" b="1" i="0">
                <a:solidFill>
                  <a:srgbClr val="2E211E"/>
                </a:solidFill>
                <a:latin typeface="Cambria"/>
              </a:rPr>
              <a:t>The neutral class, and a result that failed</a:t>
            </a:r>
          </a:p>
        </p:txBody>
      </p:sp>
      <p:sp>
        <p:nvSpPr>
          <p:cNvPr id="5" name="Rounded Rectangle 4"/>
          <p:cNvSpPr/>
          <p:nvPr/>
        </p:nvSpPr>
        <p:spPr>
          <a:xfrm>
            <a:off x="685800" y="1371600"/>
            <a:ext cx="5486400" cy="2240280"/>
          </a:xfrm>
          <a:prstGeom prst="roundRect">
            <a:avLst>
              <a:gd name="adj" fmla="val 6000"/>
            </a:avLst>
          </a:prstGeom>
          <a:solidFill>
            <a:srgbClr val="FFFFFF"/>
          </a:solidFill>
          <a:ln w="12700">
            <a:solidFill>
              <a:srgbClr val="E7E8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23544" y="1554480"/>
            <a:ext cx="5010912" cy="402336"/>
          </a:xfrm>
          <a:prstGeom prst="rect">
            <a:avLst/>
          </a:prstGeom>
          <a:noFill/>
        </p:spPr>
        <p:txBody>
          <a:bodyPr wrap="square" anchor="t" lIns="0" rIns="0" tIns="0" bIns="0">
            <a:spAutoFit/>
          </a:bodyPr>
          <a:lstStyle/>
          <a:p>
            <a:pPr algn="l">
              <a:lnSpc>
                <a:spcPct val="100000"/>
              </a:lnSpc>
            </a:pPr>
            <a:r>
              <a:rPr sz="1700" b="1" i="0">
                <a:solidFill>
                  <a:srgbClr val="B85042"/>
                </a:solidFill>
                <a:latin typeface="Cambria"/>
              </a:rPr>
              <a:t>What we tried</a:t>
            </a:r>
          </a:p>
        </p:txBody>
      </p:sp>
      <p:sp>
        <p:nvSpPr>
          <p:cNvPr id="7" name="TextBox 6"/>
          <p:cNvSpPr txBox="1"/>
          <p:nvPr/>
        </p:nvSpPr>
        <p:spPr>
          <a:xfrm>
            <a:off x="923544" y="2029967"/>
            <a:ext cx="5010912" cy="1380744"/>
          </a:xfrm>
          <a:prstGeom prst="rect">
            <a:avLst/>
          </a:prstGeom>
          <a:noFill/>
        </p:spPr>
        <p:txBody>
          <a:bodyPr wrap="square" anchor="t" lIns="0" rIns="0" tIns="0" bIns="0">
            <a:spAutoFit/>
          </a:bodyPr>
          <a:lstStyle/>
          <a:p>
            <a:pPr algn="l">
              <a:lnSpc>
                <a:spcPct val="120000"/>
              </a:lnSpc>
            </a:pPr>
            <a:r>
              <a:rPr sz="1350" b="0" i="0">
                <a:solidFill>
                  <a:srgbClr val="2E211E"/>
                </a:solidFill>
                <a:latin typeface="Calibri"/>
              </a:rPr>
              <a:t>Train binary on clearly positive vs clearly negative, then derive neutral from model uncertainty with a tuned confidence band.</a:t>
            </a:r>
          </a:p>
          <a:p>
            <a:pPr algn="l">
              <a:lnSpc>
                <a:spcPct val="120000"/>
              </a:lnSpc>
            </a:pPr>
            <a:r>
              <a:rPr sz="1350" b="0" i="0">
                <a:solidFill>
                  <a:srgbClr val="2E211E"/>
                </a:solidFill>
                <a:latin typeface="Calibri"/>
              </a:rPr>
              <a:t>Result: 71.6 macro-F1 — six points worse than simply training on three classes.</a:t>
            </a:r>
          </a:p>
        </p:txBody>
      </p:sp>
      <p:sp>
        <p:nvSpPr>
          <p:cNvPr id="8" name="Rounded Rectangle 7"/>
          <p:cNvSpPr/>
          <p:nvPr/>
        </p:nvSpPr>
        <p:spPr>
          <a:xfrm>
            <a:off x="6492240" y="1371600"/>
            <a:ext cx="5010912" cy="2240280"/>
          </a:xfrm>
          <a:prstGeom prst="roundRect">
            <a:avLst>
              <a:gd name="adj" fmla="val 6000"/>
            </a:avLst>
          </a:prstGeom>
          <a:solidFill>
            <a:srgbClr val="FFFFFF"/>
          </a:solidFill>
          <a:ln w="12700">
            <a:solidFill>
              <a:srgbClr val="E7E8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729983" y="1554480"/>
            <a:ext cx="4535424" cy="402336"/>
          </a:xfrm>
          <a:prstGeom prst="rect">
            <a:avLst/>
          </a:prstGeom>
          <a:noFill/>
        </p:spPr>
        <p:txBody>
          <a:bodyPr wrap="square" anchor="t" lIns="0" rIns="0" tIns="0" bIns="0">
            <a:spAutoFit/>
          </a:bodyPr>
          <a:lstStyle/>
          <a:p>
            <a:pPr algn="l">
              <a:lnSpc>
                <a:spcPct val="100000"/>
              </a:lnSpc>
            </a:pPr>
            <a:r>
              <a:rPr sz="1700" b="1" i="0">
                <a:solidFill>
                  <a:srgbClr val="2F7D54"/>
                </a:solidFill>
                <a:latin typeface="Cambria"/>
              </a:rPr>
              <a:t>What we learned instead</a:t>
            </a:r>
          </a:p>
        </p:txBody>
      </p:sp>
      <p:sp>
        <p:nvSpPr>
          <p:cNvPr id="10" name="TextBox 9"/>
          <p:cNvSpPr txBox="1"/>
          <p:nvPr/>
        </p:nvSpPr>
        <p:spPr>
          <a:xfrm>
            <a:off x="6729983" y="2029967"/>
            <a:ext cx="4535424" cy="1380744"/>
          </a:xfrm>
          <a:prstGeom prst="rect">
            <a:avLst/>
          </a:prstGeom>
          <a:noFill/>
        </p:spPr>
        <p:txBody>
          <a:bodyPr wrap="square" anchor="t" lIns="0" rIns="0" tIns="0" bIns="0">
            <a:spAutoFit/>
          </a:bodyPr>
          <a:lstStyle/>
          <a:p>
            <a:pPr algn="l">
              <a:lnSpc>
                <a:spcPct val="120000"/>
              </a:lnSpc>
            </a:pPr>
            <a:r>
              <a:rPr sz="1350" b="0" i="0">
                <a:solidFill>
                  <a:srgbClr val="2E211E"/>
                </a:solidFill>
                <a:latin typeface="Calibri"/>
              </a:rPr>
              <a:t>The model almost never confuses positive with negative — only 379 of 26,923 test reviews, or 1.4%.</a:t>
            </a:r>
          </a:p>
          <a:p>
            <a:pPr algn="l">
              <a:lnSpc>
                <a:spcPct val="120000"/>
              </a:lnSpc>
            </a:pPr>
            <a:r>
              <a:rPr sz="1350" b="0" i="0">
                <a:solidFill>
                  <a:srgbClr val="2E211E"/>
                </a:solidFill>
                <a:latin typeface="Calibri"/>
              </a:rPr>
              <a:t>All the error sits on the neutral boundary.</a:t>
            </a:r>
          </a:p>
        </p:txBody>
      </p:sp>
      <p:sp>
        <p:nvSpPr>
          <p:cNvPr id="11" name="Rounded Rectangle 10"/>
          <p:cNvSpPr/>
          <p:nvPr/>
        </p:nvSpPr>
        <p:spPr>
          <a:xfrm>
            <a:off x="685800" y="3886200"/>
            <a:ext cx="10820095" cy="1965960"/>
          </a:xfrm>
          <a:prstGeom prst="roundRect">
            <a:avLst>
              <a:gd name="adj" fmla="val 6000"/>
            </a:avLst>
          </a:prstGeom>
          <a:solidFill>
            <a:srgbClr val="EDF3EF"/>
          </a:solidFill>
          <a:ln w="25400">
            <a:solidFill>
              <a:srgbClr val="2F7D5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96696" y="4069080"/>
            <a:ext cx="10198303" cy="731520"/>
          </a:xfrm>
          <a:prstGeom prst="rect">
            <a:avLst/>
          </a:prstGeom>
          <a:noFill/>
        </p:spPr>
        <p:txBody>
          <a:bodyPr wrap="square" anchor="ctr" lIns="0" rIns="0" tIns="0" bIns="0">
            <a:spAutoFit/>
          </a:bodyPr>
          <a:lstStyle/>
          <a:p>
            <a:pPr algn="l">
              <a:lnSpc>
                <a:spcPct val="100000"/>
              </a:lnSpc>
            </a:pPr>
            <a:r>
              <a:rPr sz="3800" b="1" i="0">
                <a:solidFill>
                  <a:srgbClr val="1D4A33"/>
                </a:solidFill>
                <a:latin typeface="Cambria"/>
              </a:rPr>
              <a:t>96.5%</a:t>
            </a:r>
            <a:r>
              <a:rPr sz="2000" b="0" i="0">
                <a:solidFill>
                  <a:srgbClr val="1D4A33"/>
                </a:solidFill>
                <a:latin typeface="Cambria"/>
              </a:rPr>
              <a:t>   accuracy on the binary task</a:t>
            </a:r>
          </a:p>
        </p:txBody>
      </p:sp>
      <p:sp>
        <p:nvSpPr>
          <p:cNvPr id="13" name="TextBox 12"/>
          <p:cNvSpPr txBox="1"/>
          <p:nvPr/>
        </p:nvSpPr>
        <p:spPr>
          <a:xfrm>
            <a:off x="996696" y="4846320"/>
            <a:ext cx="10198303" cy="914400"/>
          </a:xfrm>
          <a:prstGeom prst="rect">
            <a:avLst/>
          </a:prstGeom>
          <a:noFill/>
        </p:spPr>
        <p:txBody>
          <a:bodyPr wrap="square" anchor="t" lIns="0" rIns="0" tIns="0" bIns="0">
            <a:spAutoFit/>
          </a:bodyPr>
          <a:lstStyle/>
          <a:p>
            <a:pPr algn="l">
              <a:lnSpc>
                <a:spcPct val="122000"/>
              </a:lnSpc>
            </a:pPr>
            <a:r>
              <a:rPr sz="1450" b="0" i="0">
                <a:solidFill>
                  <a:srgbClr val="1D4A33"/>
                </a:solidFill>
                <a:latin typeface="Calibri"/>
              </a:rPr>
              <a:t>A 3-star review is not a distinct opinion — it is the gap between two. For the question the dashboard actually asks, is this dish liked or disliked, the model is highly accurate. We report the failed attempt because the negative result is informative.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Oval 1"/>
          <p:cNvSpPr/>
          <p:nvPr/>
        </p:nvSpPr>
        <p:spPr>
          <a:xfrm>
            <a:off x="685800" y="475488"/>
            <a:ext cx="420624" cy="42062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420624" cy="420624"/>
          </a:xfrm>
          <a:prstGeom prst="rect">
            <a:avLst/>
          </a:prstGeom>
          <a:noFill/>
        </p:spPr>
        <p:txBody>
          <a:bodyPr wrap="square" anchor="ctr" lIns="0" rIns="0" tIns="0" bIns="0">
            <a:spAutoFit/>
          </a:bodyPr>
          <a:lstStyle/>
          <a:p>
            <a:pPr algn="ctr">
              <a:lnSpc>
                <a:spcPct val="100000"/>
              </a:lnSpc>
            </a:pPr>
            <a:r>
              <a:rPr sz="1500" b="1" i="0">
                <a:solidFill>
                  <a:srgbClr val="FFFFFF"/>
                </a:solidFill>
                <a:latin typeface="Calibri"/>
              </a:rPr>
              <a:t>10</a:t>
            </a:r>
          </a:p>
        </p:txBody>
      </p:sp>
      <p:sp>
        <p:nvSpPr>
          <p:cNvPr id="4" name="TextBox 3"/>
          <p:cNvSpPr txBox="1"/>
          <p:nvPr/>
        </p:nvSpPr>
        <p:spPr>
          <a:xfrm>
            <a:off x="1307592" y="402336"/>
            <a:ext cx="10198303" cy="566928"/>
          </a:xfrm>
          <a:prstGeom prst="rect">
            <a:avLst/>
          </a:prstGeom>
          <a:noFill/>
        </p:spPr>
        <p:txBody>
          <a:bodyPr wrap="square" anchor="ctr" lIns="0" rIns="0" tIns="0" bIns="0">
            <a:spAutoFit/>
          </a:bodyPr>
          <a:lstStyle/>
          <a:p>
            <a:pPr algn="l">
              <a:lnSpc>
                <a:spcPct val="100000"/>
              </a:lnSpc>
            </a:pPr>
            <a:r>
              <a:rPr sz="3000" b="1" i="0">
                <a:solidFill>
                  <a:srgbClr val="2E211E"/>
                </a:solidFill>
                <a:latin typeface="Cambria"/>
              </a:rPr>
              <a:t>What clause-level attribution changed</a:t>
            </a:r>
          </a:p>
        </p:txBody>
      </p:sp>
      <p:sp>
        <p:nvSpPr>
          <p:cNvPr id="5" name="Rounded Rectangle 4"/>
          <p:cNvSpPr/>
          <p:nvPr/>
        </p:nvSpPr>
        <p:spPr>
          <a:xfrm>
            <a:off x="685800" y="1371600"/>
            <a:ext cx="3493008" cy="1371600"/>
          </a:xfrm>
          <a:prstGeom prst="roundRect">
            <a:avLst>
              <a:gd name="adj" fmla="val 6000"/>
            </a:avLst>
          </a:prstGeom>
          <a:solidFill>
            <a:srgbClr val="FFFFFF"/>
          </a:solidFill>
          <a:ln w="12700">
            <a:solidFill>
              <a:srgbClr val="E7E8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517904"/>
            <a:ext cx="3127248" cy="713232"/>
          </a:xfrm>
          <a:prstGeom prst="rect">
            <a:avLst/>
          </a:prstGeom>
          <a:noFill/>
        </p:spPr>
        <p:txBody>
          <a:bodyPr wrap="square" anchor="ctr" lIns="0" rIns="0" tIns="0" bIns="0">
            <a:spAutoFit/>
          </a:bodyPr>
          <a:lstStyle/>
          <a:p>
            <a:pPr algn="l">
              <a:lnSpc>
                <a:spcPct val="100000"/>
              </a:lnSpc>
            </a:pPr>
            <a:r>
              <a:rPr sz="3100" b="1" i="0">
                <a:solidFill>
                  <a:srgbClr val="B85042"/>
                </a:solidFill>
                <a:latin typeface="Cambria"/>
              </a:rPr>
              <a:t>25.8%</a:t>
            </a:r>
          </a:p>
        </p:txBody>
      </p:sp>
      <p:sp>
        <p:nvSpPr>
          <p:cNvPr id="7" name="TextBox 6"/>
          <p:cNvSpPr txBox="1"/>
          <p:nvPr/>
        </p:nvSpPr>
        <p:spPr>
          <a:xfrm>
            <a:off x="868680" y="2240280"/>
            <a:ext cx="3127248" cy="411480"/>
          </a:xfrm>
          <a:prstGeom prst="rect">
            <a:avLst/>
          </a:prstGeom>
          <a:noFill/>
        </p:spPr>
        <p:txBody>
          <a:bodyPr wrap="square" anchor="t" lIns="0" rIns="0" tIns="0" bIns="0">
            <a:spAutoFit/>
          </a:bodyPr>
          <a:lstStyle/>
          <a:p>
            <a:pPr algn="l">
              <a:lnSpc>
                <a:spcPct val="110000"/>
              </a:lnSpc>
            </a:pPr>
            <a:r>
              <a:rPr sz="1150" b="0" i="0">
                <a:solidFill>
                  <a:srgbClr val="7A6A66"/>
                </a:solidFill>
                <a:latin typeface="Calibri"/>
              </a:rPr>
              <a:t>of dish clauses disagreed with the star rating</a:t>
            </a:r>
          </a:p>
        </p:txBody>
      </p:sp>
      <p:sp>
        <p:nvSpPr>
          <p:cNvPr id="8" name="Rounded Rectangle 7"/>
          <p:cNvSpPr/>
          <p:nvPr/>
        </p:nvSpPr>
        <p:spPr>
          <a:xfrm>
            <a:off x="4315968" y="1371600"/>
            <a:ext cx="3493008" cy="1371600"/>
          </a:xfrm>
          <a:prstGeom prst="roundRect">
            <a:avLst>
              <a:gd name="adj" fmla="val 6000"/>
            </a:avLst>
          </a:prstGeom>
          <a:solidFill>
            <a:srgbClr val="FFFFFF"/>
          </a:solidFill>
          <a:ln w="12700">
            <a:solidFill>
              <a:srgbClr val="E7E8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498848" y="1517904"/>
            <a:ext cx="3127248" cy="713232"/>
          </a:xfrm>
          <a:prstGeom prst="rect">
            <a:avLst/>
          </a:prstGeom>
          <a:noFill/>
        </p:spPr>
        <p:txBody>
          <a:bodyPr wrap="square" anchor="ctr" lIns="0" rIns="0" tIns="0" bIns="0">
            <a:spAutoFit/>
          </a:bodyPr>
          <a:lstStyle/>
          <a:p>
            <a:pPr algn="l">
              <a:lnSpc>
                <a:spcPct val="100000"/>
              </a:lnSpc>
            </a:pPr>
            <a:r>
              <a:rPr sz="3100" b="1" i="0">
                <a:solidFill>
                  <a:srgbClr val="B85042"/>
                </a:solidFill>
                <a:latin typeface="Cambria"/>
              </a:rPr>
              <a:t>65</a:t>
            </a:r>
          </a:p>
        </p:txBody>
      </p:sp>
      <p:sp>
        <p:nvSpPr>
          <p:cNvPr id="10" name="TextBox 9"/>
          <p:cNvSpPr txBox="1"/>
          <p:nvPr/>
        </p:nvSpPr>
        <p:spPr>
          <a:xfrm>
            <a:off x="4498848" y="2240280"/>
            <a:ext cx="3127248" cy="411480"/>
          </a:xfrm>
          <a:prstGeom prst="rect">
            <a:avLst/>
          </a:prstGeom>
          <a:noFill/>
        </p:spPr>
        <p:txBody>
          <a:bodyPr wrap="square" anchor="t" lIns="0" rIns="0" tIns="0" bIns="0">
            <a:spAutoFit/>
          </a:bodyPr>
          <a:lstStyle/>
          <a:p>
            <a:pPr algn="l">
              <a:lnSpc>
                <a:spcPct val="110000"/>
              </a:lnSpc>
            </a:pPr>
            <a:r>
              <a:rPr sz="1150" b="0" i="0">
                <a:solidFill>
                  <a:srgbClr val="7A6A66"/>
                </a:solidFill>
                <a:latin typeface="Calibri"/>
              </a:rPr>
              <a:t>reviews held dishes with opposite sentiment</a:t>
            </a:r>
          </a:p>
        </p:txBody>
      </p:sp>
      <p:sp>
        <p:nvSpPr>
          <p:cNvPr id="11" name="Rounded Rectangle 10"/>
          <p:cNvSpPr/>
          <p:nvPr/>
        </p:nvSpPr>
        <p:spPr>
          <a:xfrm>
            <a:off x="7882127" y="1371600"/>
            <a:ext cx="3621024" cy="1371600"/>
          </a:xfrm>
          <a:prstGeom prst="roundRect">
            <a:avLst>
              <a:gd name="adj" fmla="val 6000"/>
            </a:avLst>
          </a:prstGeom>
          <a:solidFill>
            <a:srgbClr val="FFFFFF"/>
          </a:solidFill>
          <a:ln w="12700">
            <a:solidFill>
              <a:srgbClr val="E7E8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065007" y="1517904"/>
            <a:ext cx="3255264" cy="713232"/>
          </a:xfrm>
          <a:prstGeom prst="rect">
            <a:avLst/>
          </a:prstGeom>
          <a:noFill/>
        </p:spPr>
        <p:txBody>
          <a:bodyPr wrap="square" anchor="ctr" lIns="0" rIns="0" tIns="0" bIns="0">
            <a:spAutoFit/>
          </a:bodyPr>
          <a:lstStyle/>
          <a:p>
            <a:pPr algn="l">
              <a:lnSpc>
                <a:spcPct val="100000"/>
              </a:lnSpc>
            </a:pPr>
            <a:r>
              <a:rPr sz="3100" b="1" i="0">
                <a:solidFill>
                  <a:srgbClr val="B85042"/>
                </a:solidFill>
                <a:latin typeface="Cambria"/>
              </a:rPr>
              <a:t>605</a:t>
            </a:r>
          </a:p>
        </p:txBody>
      </p:sp>
      <p:sp>
        <p:nvSpPr>
          <p:cNvPr id="13" name="TextBox 12"/>
          <p:cNvSpPr txBox="1"/>
          <p:nvPr/>
        </p:nvSpPr>
        <p:spPr>
          <a:xfrm>
            <a:off x="8065007" y="2240280"/>
            <a:ext cx="3255264" cy="411480"/>
          </a:xfrm>
          <a:prstGeom prst="rect">
            <a:avLst/>
          </a:prstGeom>
          <a:noFill/>
        </p:spPr>
        <p:txBody>
          <a:bodyPr wrap="square" anchor="t" lIns="0" rIns="0" tIns="0" bIns="0">
            <a:spAutoFit/>
          </a:bodyPr>
          <a:lstStyle/>
          <a:p>
            <a:pPr algn="l">
              <a:lnSpc>
                <a:spcPct val="110000"/>
              </a:lnSpc>
            </a:pPr>
            <a:r>
              <a:rPr sz="1150" b="0" i="0">
                <a:solidFill>
                  <a:srgbClr val="7A6A66"/>
                </a:solidFill>
                <a:latin typeface="Calibri"/>
              </a:rPr>
              <a:t>dish-bearing clauses analysed</a:t>
            </a:r>
          </a:p>
        </p:txBody>
      </p:sp>
      <p:sp>
        <p:nvSpPr>
          <p:cNvPr id="14" name="Rounded Rectangle 13"/>
          <p:cNvSpPr/>
          <p:nvPr/>
        </p:nvSpPr>
        <p:spPr>
          <a:xfrm>
            <a:off x="685800" y="3063240"/>
            <a:ext cx="10820095" cy="2743200"/>
          </a:xfrm>
          <a:prstGeom prst="roundRect">
            <a:avLst>
              <a:gd name="adj" fmla="val 6000"/>
            </a:avLst>
          </a:prstGeom>
          <a:solidFill>
            <a:srgbClr val="FFFFFF"/>
          </a:solidFill>
          <a:ln w="12700">
            <a:solidFill>
              <a:srgbClr val="E7E8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96696" y="3291840"/>
            <a:ext cx="10198303" cy="384048"/>
          </a:xfrm>
          <a:prstGeom prst="rect">
            <a:avLst/>
          </a:prstGeom>
          <a:noFill/>
        </p:spPr>
        <p:txBody>
          <a:bodyPr wrap="square" anchor="t" lIns="0" rIns="0" tIns="0" bIns="0">
            <a:spAutoFit/>
          </a:bodyPr>
          <a:lstStyle/>
          <a:p>
            <a:pPr algn="l">
              <a:lnSpc>
                <a:spcPct val="100000"/>
              </a:lnSpc>
            </a:pPr>
            <a:r>
              <a:rPr sz="1900" b="1" i="0">
                <a:solidFill>
                  <a:srgbClr val="2E211E"/>
                </a:solidFill>
                <a:latin typeface="Cambria"/>
              </a:rPr>
              <a:t>The largest single correction: egg biryani</a:t>
            </a:r>
          </a:p>
        </p:txBody>
      </p:sp>
      <p:sp>
        <p:nvSpPr>
          <p:cNvPr id="16" name="TextBox 15"/>
          <p:cNvSpPr txBox="1"/>
          <p:nvPr/>
        </p:nvSpPr>
        <p:spPr>
          <a:xfrm>
            <a:off x="996696" y="3794760"/>
            <a:ext cx="5486400" cy="777240"/>
          </a:xfrm>
          <a:prstGeom prst="rect">
            <a:avLst/>
          </a:prstGeom>
          <a:noFill/>
        </p:spPr>
        <p:txBody>
          <a:bodyPr wrap="square" anchor="ctr" lIns="0" rIns="0" tIns="0" bIns="0">
            <a:spAutoFit/>
          </a:bodyPr>
          <a:lstStyle/>
          <a:p>
            <a:pPr algn="l">
              <a:lnSpc>
                <a:spcPct val="100000"/>
              </a:lnSpc>
            </a:pPr>
            <a:r>
              <a:rPr sz="3300" b="1" i="0" strike="sngStrike">
                <a:solidFill>
                  <a:srgbClr val="7A6A66"/>
                </a:solidFill>
                <a:latin typeface="Cambria"/>
              </a:rPr>
              <a:t>+0.38</a:t>
            </a:r>
            <a:r>
              <a:rPr sz="2200" b="0" i="0">
                <a:solidFill>
                  <a:srgbClr val="7A6A66"/>
                </a:solidFill>
                <a:latin typeface="Calibri"/>
              </a:rPr>
              <a:t>     →     </a:t>
            </a:r>
            <a:r>
              <a:rPr sz="3300" b="1" i="0">
                <a:solidFill>
                  <a:srgbClr val="B85042"/>
                </a:solidFill>
                <a:latin typeface="Cambria"/>
              </a:rPr>
              <a:t>−0.75</a:t>
            </a:r>
          </a:p>
        </p:txBody>
      </p:sp>
      <p:sp>
        <p:nvSpPr>
          <p:cNvPr id="17" name="TextBox 16"/>
          <p:cNvSpPr txBox="1"/>
          <p:nvPr/>
        </p:nvSpPr>
        <p:spPr>
          <a:xfrm>
            <a:off x="996696" y="4663440"/>
            <a:ext cx="10198303" cy="1005840"/>
          </a:xfrm>
          <a:prstGeom prst="rect">
            <a:avLst/>
          </a:prstGeom>
          <a:noFill/>
        </p:spPr>
        <p:txBody>
          <a:bodyPr wrap="square" anchor="t" lIns="0" rIns="0" tIns="0" bIns="0">
            <a:spAutoFit/>
          </a:bodyPr>
          <a:lstStyle/>
          <a:p>
            <a:pPr algn="l">
              <a:lnSpc>
                <a:spcPct val="122000"/>
              </a:lnSpc>
            </a:pPr>
            <a:r>
              <a:rPr sz="1450" b="0" i="0">
                <a:solidFill>
                  <a:srgbClr val="2E211E"/>
                </a:solidFill>
                <a:latin typeface="Calibri"/>
              </a:rPr>
              <a:t>Its true split is 1 positive to 7 negative. The star rating had been crediting it for praise aimed at other dishes in the same reviews — the dish was being recommended on the strength of opinions that were never about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Oval 1"/>
          <p:cNvSpPr/>
          <p:nvPr/>
        </p:nvSpPr>
        <p:spPr>
          <a:xfrm>
            <a:off x="685800" y="475488"/>
            <a:ext cx="420624" cy="42062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420624" cy="420624"/>
          </a:xfrm>
          <a:prstGeom prst="rect">
            <a:avLst/>
          </a:prstGeom>
          <a:noFill/>
        </p:spPr>
        <p:txBody>
          <a:bodyPr wrap="square" anchor="ctr" lIns="0" rIns="0" tIns="0" bIns="0">
            <a:spAutoFit/>
          </a:bodyPr>
          <a:lstStyle/>
          <a:p>
            <a:pPr algn="ctr">
              <a:lnSpc>
                <a:spcPct val="100000"/>
              </a:lnSpc>
            </a:pPr>
            <a:r>
              <a:rPr sz="1500" b="1" i="0">
                <a:solidFill>
                  <a:srgbClr val="FFFFFF"/>
                </a:solidFill>
                <a:latin typeface="Calibri"/>
              </a:rPr>
              <a:t>11</a:t>
            </a:r>
          </a:p>
        </p:txBody>
      </p:sp>
      <p:sp>
        <p:nvSpPr>
          <p:cNvPr id="4" name="TextBox 3"/>
          <p:cNvSpPr txBox="1"/>
          <p:nvPr/>
        </p:nvSpPr>
        <p:spPr>
          <a:xfrm>
            <a:off x="1307592" y="402336"/>
            <a:ext cx="10198303" cy="566928"/>
          </a:xfrm>
          <a:prstGeom prst="rect">
            <a:avLst/>
          </a:prstGeom>
          <a:noFill/>
        </p:spPr>
        <p:txBody>
          <a:bodyPr wrap="square" anchor="ctr" lIns="0" rIns="0" tIns="0" bIns="0">
            <a:spAutoFit/>
          </a:bodyPr>
          <a:lstStyle/>
          <a:p>
            <a:pPr algn="l">
              <a:lnSpc>
                <a:spcPct val="100000"/>
              </a:lnSpc>
            </a:pPr>
            <a:r>
              <a:rPr sz="3000" b="1" i="0">
                <a:solidFill>
                  <a:srgbClr val="2E211E"/>
                </a:solidFill>
                <a:latin typeface="Cambria"/>
              </a:rPr>
              <a:t>The dashboard</a:t>
            </a:r>
          </a:p>
        </p:txBody>
      </p:sp>
      <p:sp>
        <p:nvSpPr>
          <p:cNvPr id="5" name="TextBox 4"/>
          <p:cNvSpPr txBox="1"/>
          <p:nvPr/>
        </p:nvSpPr>
        <p:spPr>
          <a:xfrm>
            <a:off x="685800" y="1298448"/>
            <a:ext cx="10820095" cy="365760"/>
          </a:xfrm>
          <a:prstGeom prst="rect">
            <a:avLst/>
          </a:prstGeom>
          <a:noFill/>
        </p:spPr>
        <p:txBody>
          <a:bodyPr wrap="square" anchor="t" lIns="0" rIns="0" tIns="0" bIns="0">
            <a:spAutoFit/>
          </a:bodyPr>
          <a:lstStyle/>
          <a:p>
            <a:pPr algn="l">
              <a:lnSpc>
                <a:spcPct val="100000"/>
              </a:lnSpc>
            </a:pPr>
            <a:r>
              <a:rPr sz="1400" b="0" i="0">
                <a:solidFill>
                  <a:srgbClr val="7A6A66"/>
                </a:solidFill>
                <a:latin typeface="Calibri"/>
              </a:rPr>
              <a:t>Static HTML, CSS and vanilla JavaScript with Chart.js. No backend — the Python pipeline exports static JSON. Runs on localhost.</a:t>
            </a:r>
          </a:p>
        </p:txBody>
      </p:sp>
      <p:sp>
        <p:nvSpPr>
          <p:cNvPr id="6" name="Rounded Rectangle 5"/>
          <p:cNvSpPr/>
          <p:nvPr/>
        </p:nvSpPr>
        <p:spPr>
          <a:xfrm>
            <a:off x="685800" y="1828800"/>
            <a:ext cx="3493008" cy="2057400"/>
          </a:xfrm>
          <a:prstGeom prst="roundRect">
            <a:avLst>
              <a:gd name="adj" fmla="val 6000"/>
            </a:avLst>
          </a:prstGeom>
          <a:solidFill>
            <a:srgbClr val="FFFFFF"/>
          </a:solidFill>
          <a:ln w="12700">
            <a:solidFill>
              <a:srgbClr val="E7E8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23544" y="2011680"/>
            <a:ext cx="3017520" cy="402336"/>
          </a:xfrm>
          <a:prstGeom prst="rect">
            <a:avLst/>
          </a:prstGeom>
          <a:noFill/>
        </p:spPr>
        <p:txBody>
          <a:bodyPr wrap="square" anchor="t" lIns="0" rIns="0" tIns="0" bIns="0">
            <a:spAutoFit/>
          </a:bodyPr>
          <a:lstStyle/>
          <a:p>
            <a:pPr algn="l">
              <a:lnSpc>
                <a:spcPct val="100000"/>
              </a:lnSpc>
            </a:pPr>
            <a:r>
              <a:rPr sz="1700" b="1" i="0">
                <a:solidFill>
                  <a:srgbClr val="B85042"/>
                </a:solidFill>
                <a:latin typeface="Cambria"/>
              </a:rPr>
              <a:t>Menu action map</a:t>
            </a:r>
          </a:p>
        </p:txBody>
      </p:sp>
      <p:sp>
        <p:nvSpPr>
          <p:cNvPr id="8" name="TextBox 7"/>
          <p:cNvSpPr txBox="1"/>
          <p:nvPr/>
        </p:nvSpPr>
        <p:spPr>
          <a:xfrm>
            <a:off x="923544" y="2487168"/>
            <a:ext cx="3017520" cy="1197864"/>
          </a:xfrm>
          <a:prstGeom prst="rect">
            <a:avLst/>
          </a:prstGeom>
          <a:noFill/>
        </p:spPr>
        <p:txBody>
          <a:bodyPr wrap="square" anchor="t" lIns="0" rIns="0" tIns="0" bIns="0">
            <a:spAutoFit/>
          </a:bodyPr>
          <a:lstStyle/>
          <a:p>
            <a:pPr algn="l">
              <a:lnSpc>
                <a:spcPct val="120000"/>
              </a:lnSpc>
            </a:pPr>
            <a:r>
              <a:rPr sz="1300" b="0" i="0">
                <a:solidFill>
                  <a:srgbClr val="2E211E"/>
                </a:solidFill>
                <a:latin typeface="Calibri"/>
              </a:rPr>
              <a:t>Plots mention volume against positive share, splitting the menu into signature, hidden gem, fix-or-cut and low priority.</a:t>
            </a:r>
          </a:p>
        </p:txBody>
      </p:sp>
      <p:sp>
        <p:nvSpPr>
          <p:cNvPr id="9" name="Rounded Rectangle 8"/>
          <p:cNvSpPr/>
          <p:nvPr/>
        </p:nvSpPr>
        <p:spPr>
          <a:xfrm>
            <a:off x="4315968" y="1828800"/>
            <a:ext cx="3493008" cy="2057400"/>
          </a:xfrm>
          <a:prstGeom prst="roundRect">
            <a:avLst>
              <a:gd name="adj" fmla="val 6000"/>
            </a:avLst>
          </a:prstGeom>
          <a:solidFill>
            <a:srgbClr val="FFFFFF"/>
          </a:solidFill>
          <a:ln w="12700">
            <a:solidFill>
              <a:srgbClr val="E7E8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553712" y="2011680"/>
            <a:ext cx="3017520" cy="402336"/>
          </a:xfrm>
          <a:prstGeom prst="rect">
            <a:avLst/>
          </a:prstGeom>
          <a:noFill/>
        </p:spPr>
        <p:txBody>
          <a:bodyPr wrap="square" anchor="t" lIns="0" rIns="0" tIns="0" bIns="0">
            <a:spAutoFit/>
          </a:bodyPr>
          <a:lstStyle/>
          <a:p>
            <a:pPr algn="l">
              <a:lnSpc>
                <a:spcPct val="100000"/>
              </a:lnSpc>
            </a:pPr>
            <a:r>
              <a:rPr sz="1700" b="1" i="0">
                <a:solidFill>
                  <a:srgbClr val="B85042"/>
                </a:solidFill>
                <a:latin typeface="Cambria"/>
              </a:rPr>
              <a:t>Where the rating was wrong</a:t>
            </a:r>
          </a:p>
        </p:txBody>
      </p:sp>
      <p:sp>
        <p:nvSpPr>
          <p:cNvPr id="11" name="TextBox 10"/>
          <p:cNvSpPr txBox="1"/>
          <p:nvPr/>
        </p:nvSpPr>
        <p:spPr>
          <a:xfrm>
            <a:off x="4553712" y="2487168"/>
            <a:ext cx="3017520" cy="1197864"/>
          </a:xfrm>
          <a:prstGeom prst="rect">
            <a:avLst/>
          </a:prstGeom>
          <a:noFill/>
        </p:spPr>
        <p:txBody>
          <a:bodyPr wrap="square" anchor="t" lIns="0" rIns="0" tIns="0" bIns="0">
            <a:spAutoFit/>
          </a:bodyPr>
          <a:lstStyle/>
          <a:p>
            <a:pPr algn="l">
              <a:lnSpc>
                <a:spcPct val="120000"/>
              </a:lnSpc>
            </a:pPr>
            <a:r>
              <a:rPr sz="1300" b="0" i="0">
                <a:solidFill>
                  <a:srgbClr val="2E211E"/>
                </a:solidFill>
                <a:latin typeface="Calibri"/>
              </a:rPr>
              <a:t>Shows which dishes moved under clause-level attribution, and by how much.</a:t>
            </a:r>
          </a:p>
        </p:txBody>
      </p:sp>
      <p:sp>
        <p:nvSpPr>
          <p:cNvPr id="12" name="Rounded Rectangle 11"/>
          <p:cNvSpPr/>
          <p:nvPr/>
        </p:nvSpPr>
        <p:spPr>
          <a:xfrm>
            <a:off x="7882127" y="1828800"/>
            <a:ext cx="3621024" cy="2057400"/>
          </a:xfrm>
          <a:prstGeom prst="roundRect">
            <a:avLst>
              <a:gd name="adj" fmla="val 6000"/>
            </a:avLst>
          </a:prstGeom>
          <a:solidFill>
            <a:srgbClr val="FFFFFF"/>
          </a:solidFill>
          <a:ln w="12700">
            <a:solidFill>
              <a:srgbClr val="E7E8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19871" y="2011680"/>
            <a:ext cx="3145536" cy="402336"/>
          </a:xfrm>
          <a:prstGeom prst="rect">
            <a:avLst/>
          </a:prstGeom>
          <a:noFill/>
        </p:spPr>
        <p:txBody>
          <a:bodyPr wrap="square" anchor="t" lIns="0" rIns="0" tIns="0" bIns="0">
            <a:spAutoFit/>
          </a:bodyPr>
          <a:lstStyle/>
          <a:p>
            <a:pPr algn="l">
              <a:lnSpc>
                <a:spcPct val="100000"/>
              </a:lnSpc>
            </a:pPr>
            <a:r>
              <a:rPr sz="1700" b="1" i="0">
                <a:solidFill>
                  <a:srgbClr val="B85042"/>
                </a:solidFill>
                <a:latin typeface="Cambria"/>
              </a:rPr>
              <a:t>Evidence on demand</a:t>
            </a:r>
          </a:p>
        </p:txBody>
      </p:sp>
      <p:sp>
        <p:nvSpPr>
          <p:cNvPr id="14" name="TextBox 13"/>
          <p:cNvSpPr txBox="1"/>
          <p:nvPr/>
        </p:nvSpPr>
        <p:spPr>
          <a:xfrm>
            <a:off x="8119871" y="2487168"/>
            <a:ext cx="3145536" cy="1197864"/>
          </a:xfrm>
          <a:prstGeom prst="rect">
            <a:avLst/>
          </a:prstGeom>
          <a:noFill/>
        </p:spPr>
        <p:txBody>
          <a:bodyPr wrap="square" anchor="t" lIns="0" rIns="0" tIns="0" bIns="0">
            <a:spAutoFit/>
          </a:bodyPr>
          <a:lstStyle/>
          <a:p>
            <a:pPr algn="l">
              <a:lnSpc>
                <a:spcPct val="120000"/>
              </a:lnSpc>
            </a:pPr>
            <a:r>
              <a:rPr sz="1300" b="0" i="0">
                <a:solidFill>
                  <a:srgbClr val="2E211E"/>
                </a:solidFill>
                <a:latin typeface="Calibri"/>
              </a:rPr>
              <a:t>Click any dish to read the actual review text behind its score.</a:t>
            </a:r>
          </a:p>
        </p:txBody>
      </p:sp>
      <p:sp>
        <p:nvSpPr>
          <p:cNvPr id="15" name="Rounded Rectangle 14"/>
          <p:cNvSpPr/>
          <p:nvPr/>
        </p:nvSpPr>
        <p:spPr>
          <a:xfrm>
            <a:off x="685800" y="4114800"/>
            <a:ext cx="5486400" cy="1737360"/>
          </a:xfrm>
          <a:prstGeom prst="roundRect">
            <a:avLst>
              <a:gd name="adj" fmla="val 6000"/>
            </a:avLst>
          </a:prstGeom>
          <a:solidFill>
            <a:srgbClr val="FFFFFF"/>
          </a:solidFill>
          <a:ln w="12700">
            <a:solidFill>
              <a:srgbClr val="E7E8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23544" y="4297680"/>
            <a:ext cx="5010912" cy="402336"/>
          </a:xfrm>
          <a:prstGeom prst="rect">
            <a:avLst/>
          </a:prstGeom>
          <a:noFill/>
        </p:spPr>
        <p:txBody>
          <a:bodyPr wrap="square" anchor="t" lIns="0" rIns="0" tIns="0" bIns="0">
            <a:spAutoFit/>
          </a:bodyPr>
          <a:lstStyle/>
          <a:p>
            <a:pPr algn="l">
              <a:lnSpc>
                <a:spcPct val="100000"/>
              </a:lnSpc>
            </a:pPr>
            <a:r>
              <a:rPr sz="1700" b="1" i="0">
                <a:solidFill>
                  <a:srgbClr val="2E211E"/>
                </a:solidFill>
                <a:latin typeface="Cambria"/>
              </a:rPr>
              <a:t>Why volume matters</a:t>
            </a:r>
          </a:p>
        </p:txBody>
      </p:sp>
      <p:sp>
        <p:nvSpPr>
          <p:cNvPr id="17" name="TextBox 16"/>
          <p:cNvSpPr txBox="1"/>
          <p:nvPr/>
        </p:nvSpPr>
        <p:spPr>
          <a:xfrm>
            <a:off x="923544" y="4773168"/>
            <a:ext cx="5010912" cy="877824"/>
          </a:xfrm>
          <a:prstGeom prst="rect">
            <a:avLst/>
          </a:prstGeom>
          <a:noFill/>
        </p:spPr>
        <p:txBody>
          <a:bodyPr wrap="square" anchor="t" lIns="0" rIns="0" tIns="0" bIns="0">
            <a:spAutoFit/>
          </a:bodyPr>
          <a:lstStyle/>
          <a:p>
            <a:pPr algn="l">
              <a:lnSpc>
                <a:spcPct val="120000"/>
              </a:lnSpc>
            </a:pPr>
            <a:r>
              <a:rPr sz="1350" b="0" i="0">
                <a:solidFill>
                  <a:srgbClr val="2E211E"/>
                </a:solidFill>
                <a:latin typeface="Calibri"/>
              </a:rPr>
              <a:t>Ranking on sentiment alone puts a dish praised once above the best seller. No dish is ranked below 5 mentions.</a:t>
            </a:r>
          </a:p>
        </p:txBody>
      </p:sp>
      <p:sp>
        <p:nvSpPr>
          <p:cNvPr id="18" name="Rounded Rectangle 17"/>
          <p:cNvSpPr/>
          <p:nvPr/>
        </p:nvSpPr>
        <p:spPr>
          <a:xfrm>
            <a:off x="6492240" y="4114800"/>
            <a:ext cx="5010912" cy="1737360"/>
          </a:xfrm>
          <a:prstGeom prst="roundRect">
            <a:avLst>
              <a:gd name="adj" fmla="val 6000"/>
            </a:avLst>
          </a:prstGeom>
          <a:solidFill>
            <a:srgbClr val="FFFFFF"/>
          </a:solidFill>
          <a:ln w="12700">
            <a:solidFill>
              <a:srgbClr val="E7E8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29983" y="4297680"/>
            <a:ext cx="4535424" cy="402336"/>
          </a:xfrm>
          <a:prstGeom prst="rect">
            <a:avLst/>
          </a:prstGeom>
          <a:noFill/>
        </p:spPr>
        <p:txBody>
          <a:bodyPr wrap="square" anchor="t" lIns="0" rIns="0" tIns="0" bIns="0">
            <a:spAutoFit/>
          </a:bodyPr>
          <a:lstStyle/>
          <a:p>
            <a:pPr algn="l">
              <a:lnSpc>
                <a:spcPct val="100000"/>
              </a:lnSpc>
            </a:pPr>
            <a:r>
              <a:rPr sz="1700" b="1" i="0">
                <a:solidFill>
                  <a:srgbClr val="2E211E"/>
                </a:solidFill>
                <a:latin typeface="Cambria"/>
              </a:rPr>
              <a:t>Honest by design</a:t>
            </a:r>
          </a:p>
        </p:txBody>
      </p:sp>
      <p:sp>
        <p:nvSpPr>
          <p:cNvPr id="20" name="TextBox 19"/>
          <p:cNvSpPr txBox="1"/>
          <p:nvPr/>
        </p:nvSpPr>
        <p:spPr>
          <a:xfrm>
            <a:off x="6729983" y="4773168"/>
            <a:ext cx="4535424" cy="877824"/>
          </a:xfrm>
          <a:prstGeom prst="rect">
            <a:avLst/>
          </a:prstGeom>
          <a:noFill/>
        </p:spPr>
        <p:txBody>
          <a:bodyPr wrap="square" anchor="t" lIns="0" rIns="0" tIns="0" bIns="0">
            <a:spAutoFit/>
          </a:bodyPr>
          <a:lstStyle/>
          <a:p>
            <a:pPr algn="l">
              <a:lnSpc>
                <a:spcPct val="120000"/>
              </a:lnSpc>
            </a:pPr>
            <a:r>
              <a:rPr sz="1350" b="0" i="0">
                <a:solidFill>
                  <a:srgbClr val="2E211E"/>
                </a:solidFill>
                <a:latin typeface="Calibri"/>
              </a:rPr>
              <a:t>The cleaning funnel, model comparison and learned weights are all on the page — including the experiment that failed.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Oval 1"/>
          <p:cNvSpPr/>
          <p:nvPr/>
        </p:nvSpPr>
        <p:spPr>
          <a:xfrm>
            <a:off x="685800" y="475488"/>
            <a:ext cx="420624" cy="42062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420624" cy="420624"/>
          </a:xfrm>
          <a:prstGeom prst="rect">
            <a:avLst/>
          </a:prstGeom>
          <a:noFill/>
        </p:spPr>
        <p:txBody>
          <a:bodyPr wrap="square" anchor="ctr" lIns="0" rIns="0" tIns="0" bIns="0">
            <a:spAutoFit/>
          </a:bodyPr>
          <a:lstStyle/>
          <a:p>
            <a:pPr algn="ctr">
              <a:lnSpc>
                <a:spcPct val="100000"/>
              </a:lnSpc>
            </a:pPr>
            <a:r>
              <a:rPr sz="1500" b="1" i="0">
                <a:solidFill>
                  <a:srgbClr val="FFFFFF"/>
                </a:solidFill>
                <a:latin typeface="Calibri"/>
              </a:rPr>
              <a:t>12</a:t>
            </a:r>
          </a:p>
        </p:txBody>
      </p:sp>
      <p:sp>
        <p:nvSpPr>
          <p:cNvPr id="4" name="TextBox 3"/>
          <p:cNvSpPr txBox="1"/>
          <p:nvPr/>
        </p:nvSpPr>
        <p:spPr>
          <a:xfrm>
            <a:off x="1307592" y="402336"/>
            <a:ext cx="10198303" cy="566928"/>
          </a:xfrm>
          <a:prstGeom prst="rect">
            <a:avLst/>
          </a:prstGeom>
          <a:noFill/>
        </p:spPr>
        <p:txBody>
          <a:bodyPr wrap="square" anchor="ctr" lIns="0" rIns="0" tIns="0" bIns="0">
            <a:spAutoFit/>
          </a:bodyPr>
          <a:lstStyle/>
          <a:p>
            <a:pPr algn="l">
              <a:lnSpc>
                <a:spcPct val="100000"/>
              </a:lnSpc>
            </a:pPr>
            <a:r>
              <a:rPr sz="3000" b="1" i="0">
                <a:solidFill>
                  <a:srgbClr val="2E211E"/>
                </a:solidFill>
                <a:latin typeface="Cambria"/>
              </a:rPr>
              <a:t>Limitations</a:t>
            </a:r>
          </a:p>
        </p:txBody>
      </p:sp>
      <p:sp>
        <p:nvSpPr>
          <p:cNvPr id="5" name="TextBox 4"/>
          <p:cNvSpPr txBox="1"/>
          <p:nvPr/>
        </p:nvSpPr>
        <p:spPr>
          <a:xfrm>
            <a:off x="685800" y="1463040"/>
            <a:ext cx="5486400" cy="4389120"/>
          </a:xfrm>
          <a:prstGeom prst="rect">
            <a:avLst/>
          </a:prstGeom>
          <a:noFill/>
        </p:spPr>
        <p:txBody>
          <a:bodyPr wrap="square" anchor="t" lIns="0" rIns="0" tIns="0" bIns="0">
            <a:spAutoFit/>
          </a:bodyPr>
          <a:lstStyle/>
          <a:p>
            <a:pPr algn="l">
              <a:lnSpc>
                <a:spcPct val="114000"/>
              </a:lnSpc>
              <a:spcAft>
                <a:spcPts val="900"/>
              </a:spcAft>
            </a:pPr>
            <a:r>
              <a:rPr sz="1450" b="0" i="0">
                <a:solidFill>
                  <a:srgbClr val="2E211E"/>
                </a:solidFill>
                <a:latin typeface="Calibri"/>
              </a:rPr>
              <a:t>•  Neutral-class F1 of 0.581, with a documented failed attempt to fix it</a:t>
            </a:r>
          </a:p>
          <a:p>
            <a:pPr algn="l">
              <a:lnSpc>
                <a:spcPct val="114000"/>
              </a:lnSpc>
              <a:spcAft>
                <a:spcPts val="900"/>
              </a:spcAft>
            </a:pPr>
            <a:r>
              <a:rPr sz="1450" b="0" i="0">
                <a:solidFill>
                  <a:srgbClr val="2E211E"/>
                </a:solidFill>
                <a:latin typeface="Calibri"/>
              </a:rPr>
              <a:t>•  Sampling bias — text reviewers are ~6% of raters and skew toward strong opinions</a:t>
            </a:r>
          </a:p>
          <a:p>
            <a:pPr algn="l">
              <a:lnSpc>
                <a:spcPct val="114000"/>
              </a:lnSpc>
              <a:spcAft>
                <a:spcPts val="900"/>
              </a:spcAft>
            </a:pPr>
            <a:r>
              <a:rPr sz="1450" b="0" i="0">
                <a:solidFill>
                  <a:srgbClr val="2E211E"/>
                </a:solidFill>
                <a:latin typeface="Calibri"/>
              </a:rPr>
              <a:t>•  677 of 1,069 cleaned reviews mention no dish; our sample restaurants are delivery-led</a:t>
            </a:r>
          </a:p>
          <a:p>
            <a:pPr algn="l">
              <a:lnSpc>
                <a:spcPct val="114000"/>
              </a:lnSpc>
              <a:spcAft>
                <a:spcPts val="900"/>
              </a:spcAft>
            </a:pPr>
            <a:r>
              <a:rPr sz="1450" b="0" i="0">
                <a:solidFill>
                  <a:srgbClr val="2E211E"/>
                </a:solidFill>
                <a:latin typeface="Calibri"/>
              </a:rPr>
              <a:t>•  No manual audit of dropped rows, so filter precision is unmeasured</a:t>
            </a:r>
          </a:p>
        </p:txBody>
      </p:sp>
      <p:sp>
        <p:nvSpPr>
          <p:cNvPr id="6" name="TextBox 5"/>
          <p:cNvSpPr txBox="1"/>
          <p:nvPr/>
        </p:nvSpPr>
        <p:spPr>
          <a:xfrm>
            <a:off x="6492240" y="1463040"/>
            <a:ext cx="5010912" cy="4389120"/>
          </a:xfrm>
          <a:prstGeom prst="rect">
            <a:avLst/>
          </a:prstGeom>
          <a:noFill/>
        </p:spPr>
        <p:txBody>
          <a:bodyPr wrap="square" anchor="t" lIns="0" rIns="0" tIns="0" bIns="0">
            <a:spAutoFit/>
          </a:bodyPr>
          <a:lstStyle/>
          <a:p>
            <a:pPr algn="l">
              <a:lnSpc>
                <a:spcPct val="114000"/>
              </a:lnSpc>
              <a:spcAft>
                <a:spcPts val="900"/>
              </a:spcAft>
            </a:pPr>
            <a:r>
              <a:rPr sz="1450" b="0" i="0">
                <a:solidFill>
                  <a:srgbClr val="2E211E"/>
                </a:solidFill>
                <a:latin typeface="Calibri"/>
              </a:rPr>
              <a:t>•  The 15-character length threshold is unvalidated by ablation</a:t>
            </a:r>
          </a:p>
          <a:p>
            <a:pPr algn="l">
              <a:lnSpc>
                <a:spcPct val="114000"/>
              </a:lnSpc>
              <a:spcAft>
                <a:spcPts val="900"/>
              </a:spcAft>
            </a:pPr>
            <a:r>
              <a:rPr sz="1450" b="0" i="0">
                <a:solidFill>
                  <a:srgbClr val="2E211E"/>
                </a:solidFill>
                <a:latin typeface="Calibri"/>
              </a:rPr>
              <a:t>•  No timestamps in the dataset, so no temporal analysis is possible</a:t>
            </a:r>
          </a:p>
          <a:p>
            <a:pPr algn="l">
              <a:lnSpc>
                <a:spcPct val="114000"/>
              </a:lnSpc>
              <a:spcAft>
                <a:spcPts val="900"/>
              </a:spcAft>
            </a:pPr>
            <a:r>
              <a:rPr sz="1450" b="0" i="0">
                <a:solidFill>
                  <a:srgbClr val="2E211E"/>
                </a:solidFill>
                <a:latin typeface="Calibri"/>
              </a:rPr>
              <a:t>•  Dish extraction has weak supervision only — no precision or recall reported</a:t>
            </a:r>
          </a:p>
          <a:p>
            <a:pPr algn="l">
              <a:lnSpc>
                <a:spcPct val="114000"/>
              </a:lnSpc>
              <a:spcAft>
                <a:spcPts val="900"/>
              </a:spcAft>
            </a:pPr>
            <a:r>
              <a:rPr sz="1450" b="0" i="0">
                <a:solidFill>
                  <a:srgbClr val="2E211E"/>
                </a:solidFill>
                <a:latin typeface="Calibri"/>
              </a:rPr>
              <a:t>•  Noun-phrase discovery still returns food, they, order and needs POS filtering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E211E"/>
        </a:solidFill>
        <a:effectLst/>
      </p:bgPr>
    </p:bg>
    <p:spTree>
      <p:nvGrpSpPr>
        <p:cNvPr id="1" name=""/>
        <p:cNvGrpSpPr/>
        <p:nvPr/>
      </p:nvGrpSpPr>
      <p:grpSpPr/>
      <p:sp>
        <p:nvSpPr>
          <p:cNvPr id="2" name="Oval 1"/>
          <p:cNvSpPr/>
          <p:nvPr/>
        </p:nvSpPr>
        <p:spPr>
          <a:xfrm>
            <a:off x="-1463040" y="4663440"/>
            <a:ext cx="3840480" cy="3840480"/>
          </a:xfrm>
          <a:prstGeom prst="ellipse">
            <a:avLst/>
          </a:prstGeom>
          <a:solidFill>
            <a:srgbClr val="3B2B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20040"/>
          </a:xfrm>
          <a:prstGeom prst="rect">
            <a:avLst/>
          </a:prstGeom>
          <a:noFill/>
        </p:spPr>
        <p:txBody>
          <a:bodyPr wrap="square" anchor="t" lIns="0" rIns="0" tIns="0" bIns="0">
            <a:spAutoFit/>
          </a:bodyPr>
          <a:lstStyle/>
          <a:p>
            <a:pPr algn="l">
              <a:lnSpc>
                <a:spcPct val="100000"/>
              </a:lnSpc>
            </a:pPr>
            <a:r>
              <a:rPr sz="1300" b="1" i="0">
                <a:solidFill>
                  <a:srgbClr val="A7BEAE"/>
                </a:solidFill>
                <a:latin typeface="Calibri"/>
              </a:rPr>
              <a:t>CONCLUSION</a:t>
            </a:r>
          </a:p>
        </p:txBody>
      </p:sp>
      <p:sp>
        <p:nvSpPr>
          <p:cNvPr id="4" name="TextBox 3"/>
          <p:cNvSpPr txBox="1"/>
          <p:nvPr/>
        </p:nvSpPr>
        <p:spPr>
          <a:xfrm>
            <a:off x="685800" y="1463040"/>
            <a:ext cx="9601200" cy="731520"/>
          </a:xfrm>
          <a:prstGeom prst="rect">
            <a:avLst/>
          </a:prstGeom>
          <a:noFill/>
        </p:spPr>
        <p:txBody>
          <a:bodyPr wrap="square" anchor="t" lIns="0" rIns="0" tIns="0" bIns="0">
            <a:spAutoFit/>
          </a:bodyPr>
          <a:lstStyle/>
          <a:p>
            <a:pPr algn="l">
              <a:lnSpc>
                <a:spcPct val="100000"/>
              </a:lnSpc>
            </a:pPr>
            <a:r>
              <a:rPr sz="3600" b="1" i="0">
                <a:solidFill>
                  <a:srgbClr val="FFFFFF"/>
                </a:solidFill>
                <a:latin typeface="Cambria"/>
              </a:rPr>
              <a:t>Reviews become menu decisions</a:t>
            </a:r>
          </a:p>
        </p:txBody>
      </p:sp>
      <p:sp>
        <p:nvSpPr>
          <p:cNvPr id="5" name="TextBox 4"/>
          <p:cNvSpPr txBox="1"/>
          <p:nvPr/>
        </p:nvSpPr>
        <p:spPr>
          <a:xfrm>
            <a:off x="685800" y="2514600"/>
            <a:ext cx="1874519" cy="640080"/>
          </a:xfrm>
          <a:prstGeom prst="rect">
            <a:avLst/>
          </a:prstGeom>
          <a:noFill/>
        </p:spPr>
        <p:txBody>
          <a:bodyPr wrap="square" anchor="ctr" lIns="0" rIns="0" tIns="0" bIns="0">
            <a:spAutoFit/>
          </a:bodyPr>
          <a:lstStyle/>
          <a:p>
            <a:pPr algn="l">
              <a:lnSpc>
                <a:spcPct val="100000"/>
              </a:lnSpc>
            </a:pPr>
            <a:r>
              <a:rPr sz="3000" b="1" i="0">
                <a:solidFill>
                  <a:srgbClr val="B85042"/>
                </a:solidFill>
                <a:latin typeface="Cambria"/>
              </a:rPr>
              <a:t>89.1%</a:t>
            </a:r>
          </a:p>
        </p:txBody>
      </p:sp>
      <p:sp>
        <p:nvSpPr>
          <p:cNvPr id="6" name="TextBox 5"/>
          <p:cNvSpPr txBox="1"/>
          <p:nvPr/>
        </p:nvSpPr>
        <p:spPr>
          <a:xfrm>
            <a:off x="2697480" y="2514600"/>
            <a:ext cx="8503920" cy="640080"/>
          </a:xfrm>
          <a:prstGeom prst="rect">
            <a:avLst/>
          </a:prstGeom>
          <a:noFill/>
        </p:spPr>
        <p:txBody>
          <a:bodyPr wrap="square" anchor="ctr" lIns="0" rIns="0" tIns="0" bIns="0">
            <a:spAutoFit/>
          </a:bodyPr>
          <a:lstStyle/>
          <a:p>
            <a:pPr algn="l">
              <a:lnSpc>
                <a:spcPct val="110000"/>
              </a:lnSpc>
            </a:pPr>
            <a:r>
              <a:rPr sz="1500" b="0" i="0">
                <a:solidFill>
                  <a:srgbClr val="E7E8D1"/>
                </a:solidFill>
                <a:latin typeface="Calibri"/>
              </a:rPr>
              <a:t>of the corpus was duplicated — deduplication accounted for 99.2% of all rows removed</a:t>
            </a:r>
          </a:p>
        </p:txBody>
      </p:sp>
      <p:sp>
        <p:nvSpPr>
          <p:cNvPr id="7" name="TextBox 6"/>
          <p:cNvSpPr txBox="1"/>
          <p:nvPr/>
        </p:nvSpPr>
        <p:spPr>
          <a:xfrm>
            <a:off x="685800" y="3566160"/>
            <a:ext cx="1874519" cy="640080"/>
          </a:xfrm>
          <a:prstGeom prst="rect">
            <a:avLst/>
          </a:prstGeom>
          <a:noFill/>
        </p:spPr>
        <p:txBody>
          <a:bodyPr wrap="square" anchor="ctr" lIns="0" rIns="0" tIns="0" bIns="0">
            <a:spAutoFit/>
          </a:bodyPr>
          <a:lstStyle/>
          <a:p>
            <a:pPr algn="l">
              <a:lnSpc>
                <a:spcPct val="100000"/>
              </a:lnSpc>
            </a:pPr>
            <a:r>
              <a:rPr sz="3000" b="1" i="0">
                <a:solidFill>
                  <a:srgbClr val="B85042"/>
                </a:solidFill>
                <a:latin typeface="Cambria"/>
              </a:rPr>
              <a:t>96.5%</a:t>
            </a:r>
          </a:p>
        </p:txBody>
      </p:sp>
      <p:sp>
        <p:nvSpPr>
          <p:cNvPr id="8" name="TextBox 7"/>
          <p:cNvSpPr txBox="1"/>
          <p:nvPr/>
        </p:nvSpPr>
        <p:spPr>
          <a:xfrm>
            <a:off x="2697480" y="3566160"/>
            <a:ext cx="8503920" cy="640080"/>
          </a:xfrm>
          <a:prstGeom prst="rect">
            <a:avLst/>
          </a:prstGeom>
          <a:noFill/>
        </p:spPr>
        <p:txBody>
          <a:bodyPr wrap="square" anchor="ctr" lIns="0" rIns="0" tIns="0" bIns="0">
            <a:spAutoFit/>
          </a:bodyPr>
          <a:lstStyle/>
          <a:p>
            <a:pPr algn="l">
              <a:lnSpc>
                <a:spcPct val="110000"/>
              </a:lnSpc>
            </a:pPr>
            <a:r>
              <a:rPr sz="1500" b="0" i="0">
                <a:solidFill>
                  <a:srgbClr val="E7E8D1"/>
                </a:solidFill>
                <a:latin typeface="Calibri"/>
              </a:rPr>
              <a:t>binary accuracy on the question the dashboard actually asks</a:t>
            </a:r>
          </a:p>
        </p:txBody>
      </p:sp>
      <p:sp>
        <p:nvSpPr>
          <p:cNvPr id="9" name="TextBox 8"/>
          <p:cNvSpPr txBox="1"/>
          <p:nvPr/>
        </p:nvSpPr>
        <p:spPr>
          <a:xfrm>
            <a:off x="685800" y="4617720"/>
            <a:ext cx="1874519" cy="640080"/>
          </a:xfrm>
          <a:prstGeom prst="rect">
            <a:avLst/>
          </a:prstGeom>
          <a:noFill/>
        </p:spPr>
        <p:txBody>
          <a:bodyPr wrap="square" anchor="ctr" lIns="0" rIns="0" tIns="0" bIns="0">
            <a:spAutoFit/>
          </a:bodyPr>
          <a:lstStyle/>
          <a:p>
            <a:pPr algn="l">
              <a:lnSpc>
                <a:spcPct val="100000"/>
              </a:lnSpc>
            </a:pPr>
            <a:r>
              <a:rPr sz="3000" b="1" i="0">
                <a:solidFill>
                  <a:srgbClr val="B85042"/>
                </a:solidFill>
                <a:latin typeface="Cambria"/>
              </a:rPr>
              <a:t>25.8%</a:t>
            </a:r>
          </a:p>
        </p:txBody>
      </p:sp>
      <p:sp>
        <p:nvSpPr>
          <p:cNvPr id="10" name="TextBox 9"/>
          <p:cNvSpPr txBox="1"/>
          <p:nvPr/>
        </p:nvSpPr>
        <p:spPr>
          <a:xfrm>
            <a:off x="2697480" y="4617720"/>
            <a:ext cx="8503920" cy="640080"/>
          </a:xfrm>
          <a:prstGeom prst="rect">
            <a:avLst/>
          </a:prstGeom>
          <a:noFill/>
        </p:spPr>
        <p:txBody>
          <a:bodyPr wrap="square" anchor="ctr" lIns="0" rIns="0" tIns="0" bIns="0">
            <a:spAutoFit/>
          </a:bodyPr>
          <a:lstStyle/>
          <a:p>
            <a:pPr algn="l">
              <a:lnSpc>
                <a:spcPct val="110000"/>
              </a:lnSpc>
            </a:pPr>
            <a:r>
              <a:rPr sz="1500" b="0" i="0">
                <a:solidFill>
                  <a:srgbClr val="E7E8D1"/>
                </a:solidFill>
                <a:latin typeface="Calibri"/>
              </a:rPr>
              <a:t>of dish clauses disagreed with the review's own star rating</a:t>
            </a:r>
          </a:p>
        </p:txBody>
      </p:sp>
      <p:sp>
        <p:nvSpPr>
          <p:cNvPr id="11" name="TextBox 10"/>
          <p:cNvSpPr txBox="1"/>
          <p:nvPr/>
        </p:nvSpPr>
        <p:spPr>
          <a:xfrm>
            <a:off x="685800" y="5760720"/>
            <a:ext cx="10332720" cy="640080"/>
          </a:xfrm>
          <a:prstGeom prst="rect">
            <a:avLst/>
          </a:prstGeom>
          <a:noFill/>
        </p:spPr>
        <p:txBody>
          <a:bodyPr wrap="square" anchor="t" lIns="0" rIns="0" tIns="0" bIns="0">
            <a:spAutoFit/>
          </a:bodyPr>
          <a:lstStyle/>
          <a:p>
            <a:pPr algn="l">
              <a:lnSpc>
                <a:spcPct val="100000"/>
              </a:lnSpc>
            </a:pPr>
            <a:r>
              <a:rPr sz="1450" b="0" i="1">
                <a:solidFill>
                  <a:srgbClr val="A7BEAE"/>
                </a:solidFill>
                <a:latin typeface="Calibri"/>
              </a:rPr>
              <a:t>Instead of reading every review, an owner can see which dishes to promote, which to fix, and which to cut — with the evidence one click away.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